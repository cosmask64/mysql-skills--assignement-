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98" r:id="rId5"/>
    <p:sldId id="299" r:id="rId6"/>
    <p:sldId id="300" r:id="rId7"/>
    <p:sldId id="301" r:id="rId8"/>
    <p:sldId id="302" r:id="rId9"/>
    <p:sldId id="303" r:id="rId10"/>
    <p:sldId id="304" r:id="rId11"/>
    <p:sldId id="305" r:id="rId12"/>
    <p:sldId id="306" r:id="rId13"/>
    <p:sldId id="307" r:id="rId14"/>
    <p:sldId id="308" r:id="rId15"/>
    <p:sldId id="309" r:id="rId16"/>
    <p:sldId id="310" r:id="rId17"/>
    <p:sldId id="311" r:id="rId18"/>
    <p:sldId id="312" r:id="rId19"/>
    <p:sldId id="313" r:id="rId20"/>
    <p:sldId id="314" r:id="rId21"/>
    <p:sldId id="315" r:id="rId22"/>
    <p:sldId id="316" r:id="rId23"/>
    <p:sldId id="317" r:id="rId24"/>
    <p:sldId id="318" r:id="rId25"/>
    <p:sldId id="319" r:id="rId26"/>
    <p:sldId id="320" r:id="rId27"/>
    <p:sldId id="321" r:id="rId28"/>
    <p:sldId id="322" r:id="rId29"/>
    <p:sldId id="323" r:id="rId30"/>
    <p:sldId id="324" r:id="rId31"/>
    <p:sldId id="325" r:id="rId32"/>
    <p:sldId id="326" r:id="rId33"/>
    <p:sldId id="327" r:id="rId34"/>
    <p:sldId id="328" r:id="rId35"/>
    <p:sldId id="329" r:id="rId36"/>
    <p:sldId id="330" r:id="rId37"/>
    <p:sldId id="331" r:id="rId38"/>
    <p:sldId id="332" r:id="rId39"/>
    <p:sldId id="333" r:id="rId40"/>
    <p:sldId id="334" r:id="rId41"/>
    <p:sldId id="335" r:id="rId42"/>
    <p:sldId id="336" r:id="rId43"/>
    <p:sldId id="337" r:id="rId44"/>
    <p:sldId id="338" r:id="rId45"/>
    <p:sldId id="339" r:id="rId46"/>
    <p:sldId id="340" r:id="rId47"/>
    <p:sldId id="342" r:id="rId48"/>
    <p:sldId id="343" r:id="rId49"/>
    <p:sldId id="344" r:id="rId50"/>
    <p:sldId id="341" r:id="rId51"/>
    <p:sldId id="345" r:id="rId52"/>
    <p:sldId id="346" r:id="rId53"/>
    <p:sldId id="347" r:id="rId54"/>
    <p:sldId id="348" r:id="rId55"/>
    <p:sldId id="349" r:id="rId56"/>
    <p:sldId id="350" r:id="rId57"/>
    <p:sldId id="351" r:id="rId58"/>
    <p:sldId id="352" r:id="rId59"/>
    <p:sldId id="353" r:id="rId60"/>
    <p:sldId id="354" r:id="rId61"/>
    <p:sldId id="355" r:id="rId62"/>
    <p:sldId id="356" r:id="rId63"/>
    <p:sldId id="357" r:id="rId64"/>
    <p:sldId id="358" r:id="rId65"/>
    <p:sldId id="359" r:id="rId66"/>
    <p:sldId id="360" r:id="rId67"/>
    <p:sldId id="361" r:id="rId68"/>
    <p:sldId id="362" r:id="rId69"/>
    <p:sldId id="363" r:id="rId70"/>
    <p:sldId id="364" r:id="rId71"/>
    <p:sldId id="365" r:id="rId72"/>
    <p:sldId id="366" r:id="rId7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19" autoAdjust="0"/>
  </p:normalViewPr>
  <p:slideViewPr>
    <p:cSldViewPr snapToGrid="0">
      <p:cViewPr varScale="1">
        <p:scale>
          <a:sx n="66" d="100"/>
          <a:sy n="66" d="100"/>
        </p:scale>
        <p:origin x="632"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6" Type="http://schemas.openxmlformats.org/officeDocument/2006/relationships/theme" Target="theme/theme1.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61" Type="http://schemas.openxmlformats.org/officeDocument/2006/relationships/slide" Target="slides/slide57.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12/17/2024</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23437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12/17/2024</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40465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12/17/2024</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2783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12/17/2024</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88359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12/17/2024</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63925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12/17/2024</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68543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12/17/2024</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3393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12/17/2024</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771184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12/17/2024</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01613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12/17/2024</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6030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ranklin Gothic Book" panose="020F0502020204030204"/>
              <a:ea typeface="+mn-ea"/>
              <a:cs typeface="+mn-cs"/>
            </a:endParaRPr>
          </a:p>
        </p:txBody>
      </p:sp>
      <p:pic>
        <p:nvPicPr>
          <p:cNvPr id="4" name="Picture 3" descr="A close up of a piece of paper with a pencil laying on top">
            <a:extLst>
              <a:ext uri="{FF2B5EF4-FFF2-40B4-BE49-F238E27FC236}">
                <a16:creationId xmlns:a16="http://schemas.microsoft.com/office/drawing/2014/main" id="{65810330-F0B5-43C9-BC34-094FFB5C0529}"/>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20" y="975"/>
            <a:ext cx="12191980" cy="6858000"/>
          </a:xfrm>
          <a:prstGeom prst="rect">
            <a:avLst/>
          </a:prstGeom>
        </p:spPr>
      </p:pic>
      <p:sp>
        <p:nvSpPr>
          <p:cNvPr id="35" name="Rectangle 34">
            <a:extLst>
              <a:ext uri="{FF2B5EF4-FFF2-40B4-BE49-F238E27FC236}">
                <a16:creationId xmlns:a16="http://schemas.microsoft.com/office/drawing/2014/main" id="{C5373426-E26E-431D-959C-5DB96C0B6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12607" y="1238442"/>
            <a:ext cx="3635926" cy="4355751"/>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ranklin Gothic Book" panose="020F0502020204030204"/>
              <a:ea typeface="+mn-ea"/>
              <a:cs typeface="+mn-cs"/>
            </a:endParaRPr>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8123416" y="1475234"/>
            <a:ext cx="3214307" cy="2901694"/>
          </a:xfrm>
        </p:spPr>
        <p:txBody>
          <a:bodyPr anchor="b">
            <a:normAutofit/>
          </a:bodyPr>
          <a:lstStyle/>
          <a:p>
            <a:r>
              <a:rPr lang="en-US" sz="4400" dirty="0">
                <a:solidFill>
                  <a:schemeClr val="tx1"/>
                </a:solidFill>
              </a:rPr>
              <a:t>SQL Notes</a:t>
            </a:r>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8127750" y="4608576"/>
            <a:ext cx="3205640" cy="774186"/>
          </a:xfrm>
        </p:spPr>
        <p:txBody>
          <a:bodyPr anchor="t">
            <a:normAutofit/>
          </a:bodyPr>
          <a:lstStyle/>
          <a:p>
            <a:pPr>
              <a:lnSpc>
                <a:spcPct val="100000"/>
              </a:lnSpc>
            </a:pPr>
            <a:r>
              <a:rPr lang="en-US" sz="1600" dirty="0"/>
              <a:t>Abraham</a:t>
            </a:r>
          </a:p>
        </p:txBody>
      </p:sp>
      <p:cxnSp>
        <p:nvCxnSpPr>
          <p:cNvPr id="37" name="Straight Connector 36">
            <a:extLst>
              <a:ext uri="{FF2B5EF4-FFF2-40B4-BE49-F238E27FC236}">
                <a16:creationId xmlns:a16="http://schemas.microsoft.com/office/drawing/2014/main" id="{96D07482-83A3-4451-943C-B469610829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76090" y="4508519"/>
            <a:ext cx="310896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EDC90921-9082-491B-940E-827D679F34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26262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9314396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ECC2A7F-BDBF-08D6-0FC0-601E4DC53CE4}"/>
              </a:ext>
            </a:extLst>
          </p:cNvPr>
          <p:cNvSpPr txBox="1"/>
          <p:nvPr/>
        </p:nvSpPr>
        <p:spPr>
          <a:xfrm>
            <a:off x="511728" y="753441"/>
            <a:ext cx="11680272" cy="4247317"/>
          </a:xfrm>
          <a:prstGeom prst="rect">
            <a:avLst/>
          </a:prstGeom>
          <a:noFill/>
        </p:spPr>
        <p:txBody>
          <a:bodyPr wrap="square">
            <a:spAutoFit/>
          </a:bodyPr>
          <a:lstStyle/>
          <a:p>
            <a:r>
              <a:rPr lang="en-US" dirty="0">
                <a:solidFill>
                  <a:srgbClr val="FF0000"/>
                </a:solidFill>
              </a:rPr>
              <a:t>What is RDBMS?</a:t>
            </a:r>
          </a:p>
          <a:p>
            <a:endParaRPr lang="en-US" dirty="0"/>
          </a:p>
          <a:p>
            <a:r>
              <a:rPr lang="en-US" dirty="0"/>
              <a:t>RDBMS stands for Relational Database Management System. RDBMS is the basis for SQL, and for all modern database systems like MS SQL Server, IBM DB2, Oracle, MySQL, and Microsoft Access.</a:t>
            </a:r>
          </a:p>
          <a:p>
            <a:endParaRPr lang="en-US" dirty="0"/>
          </a:p>
          <a:p>
            <a:r>
              <a:rPr lang="en-US" dirty="0"/>
              <a:t>A Relational database management system (RDBMS) is a database management system (DBMS) that is based on the relational model as introduced by E. F. Codd in 1970.</a:t>
            </a:r>
          </a:p>
          <a:p>
            <a:endParaRPr lang="en-US" dirty="0"/>
          </a:p>
          <a:p>
            <a:r>
              <a:rPr lang="en-US" dirty="0">
                <a:solidFill>
                  <a:srgbClr val="FF0000"/>
                </a:solidFill>
              </a:rPr>
              <a:t>What is a Table?</a:t>
            </a:r>
          </a:p>
          <a:p>
            <a:endParaRPr lang="en-US" dirty="0"/>
          </a:p>
          <a:p>
            <a:r>
              <a:rPr lang="en-US" dirty="0"/>
              <a:t>The data in an RDBMS is stored in database objects known as tables. This table is basically a collection of related data entries and it consists of numerous columns and rows.</a:t>
            </a:r>
          </a:p>
          <a:p>
            <a:endParaRPr lang="en-US" dirty="0"/>
          </a:p>
          <a:p>
            <a:r>
              <a:rPr lang="en-US" dirty="0"/>
              <a:t>Remember, a table is the most common and simplest form of data storage in a relational database. Following is an example of a EMPLOYEES table which stores customer's ID, Name, Age, Salary, City and Country</a:t>
            </a:r>
          </a:p>
        </p:txBody>
      </p:sp>
    </p:spTree>
    <p:extLst>
      <p:ext uri="{BB962C8B-B14F-4D97-AF65-F5344CB8AC3E}">
        <p14:creationId xmlns:p14="http://schemas.microsoft.com/office/powerpoint/2010/main" val="2222226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E3DA3CC-8A3D-CBC7-951E-01A42070A05F}"/>
              </a:ext>
            </a:extLst>
          </p:cNvPr>
          <p:cNvSpPr txBox="1"/>
          <p:nvPr/>
        </p:nvSpPr>
        <p:spPr>
          <a:xfrm>
            <a:off x="796954" y="1584438"/>
            <a:ext cx="10679185" cy="2862322"/>
          </a:xfrm>
          <a:prstGeom prst="rect">
            <a:avLst/>
          </a:prstGeom>
          <a:noFill/>
        </p:spPr>
        <p:txBody>
          <a:bodyPr wrap="square">
            <a:spAutoFit/>
          </a:bodyPr>
          <a:lstStyle/>
          <a:p>
            <a:r>
              <a:rPr lang="en-US" dirty="0">
                <a:solidFill>
                  <a:srgbClr val="FF0000"/>
                </a:solidFill>
              </a:rPr>
              <a:t>What is a Field?</a:t>
            </a:r>
          </a:p>
          <a:p>
            <a:endParaRPr lang="en-US" dirty="0"/>
          </a:p>
          <a:p>
            <a:r>
              <a:rPr lang="en-US" dirty="0"/>
              <a:t>Every table is broken up into smaller entities called fields. A field is a column in a table that is designed to maintain specific information about every record in the table.</a:t>
            </a:r>
          </a:p>
          <a:p>
            <a:endParaRPr lang="en-US" dirty="0"/>
          </a:p>
          <a:p>
            <a:r>
              <a:rPr lang="en-US" dirty="0"/>
              <a:t>For example, our EMPLOYEES table consists of different fields like ID, Name, Age, Salary, City and Country.</a:t>
            </a:r>
          </a:p>
          <a:p>
            <a:endParaRPr lang="en-US" dirty="0"/>
          </a:p>
          <a:p>
            <a:r>
              <a:rPr lang="en-US" dirty="0">
                <a:solidFill>
                  <a:srgbClr val="FF0000"/>
                </a:solidFill>
              </a:rPr>
              <a:t>What is a Record or a Row?</a:t>
            </a:r>
          </a:p>
          <a:p>
            <a:r>
              <a:rPr lang="en-US" dirty="0"/>
              <a:t>A record is also called as a row of data is each individual entry that exists in a table. For example, there are 7 records in the above EMPLOYEES table. </a:t>
            </a:r>
          </a:p>
        </p:txBody>
      </p:sp>
    </p:spTree>
    <p:extLst>
      <p:ext uri="{BB962C8B-B14F-4D97-AF65-F5344CB8AC3E}">
        <p14:creationId xmlns:p14="http://schemas.microsoft.com/office/powerpoint/2010/main" val="5246407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510F4E4-D45B-CE06-F289-AFC2A627EE21}"/>
              </a:ext>
            </a:extLst>
          </p:cNvPr>
          <p:cNvSpPr txBox="1"/>
          <p:nvPr/>
        </p:nvSpPr>
        <p:spPr>
          <a:xfrm>
            <a:off x="679508" y="891941"/>
            <a:ext cx="10586907" cy="4247317"/>
          </a:xfrm>
          <a:prstGeom prst="rect">
            <a:avLst/>
          </a:prstGeom>
          <a:noFill/>
        </p:spPr>
        <p:txBody>
          <a:bodyPr wrap="square">
            <a:spAutoFit/>
          </a:bodyPr>
          <a:lstStyle/>
          <a:p>
            <a:r>
              <a:rPr lang="en-US" dirty="0">
                <a:solidFill>
                  <a:srgbClr val="FF0000"/>
                </a:solidFill>
              </a:rPr>
              <a:t>What is a Column?</a:t>
            </a:r>
          </a:p>
          <a:p>
            <a:endParaRPr lang="en-US" dirty="0"/>
          </a:p>
          <a:p>
            <a:r>
              <a:rPr lang="en-US" dirty="0"/>
              <a:t>A column is a vertical entity in a table that contains all information associated with a specific field in a table.</a:t>
            </a:r>
          </a:p>
          <a:p>
            <a:endParaRPr lang="en-US" dirty="0"/>
          </a:p>
          <a:p>
            <a:r>
              <a:rPr lang="en-US" dirty="0"/>
              <a:t>For example, our EMPLOYEES table have different columns to represent ID, Name, Age, Salary, City and Country.</a:t>
            </a:r>
          </a:p>
          <a:p>
            <a:endParaRPr lang="en-US" dirty="0"/>
          </a:p>
          <a:p>
            <a:r>
              <a:rPr lang="en-US" dirty="0">
                <a:solidFill>
                  <a:srgbClr val="FF0000"/>
                </a:solidFill>
              </a:rPr>
              <a:t>What is a NULL Value?</a:t>
            </a:r>
          </a:p>
          <a:p>
            <a:r>
              <a:rPr lang="en-US" dirty="0"/>
              <a:t>A NULL value in a table is a value in a field that appears to be blank, which means a field with a NULL value is a field with no value.</a:t>
            </a:r>
          </a:p>
          <a:p>
            <a:endParaRPr lang="en-US" dirty="0"/>
          </a:p>
          <a:p>
            <a:r>
              <a:rPr lang="en-US" dirty="0"/>
              <a:t>It is very important to understand that a NULL value is different than a zero value or a field that contains spaces. A field with a NULL value is the one that has been left blank during a record creation. Following table has three records where first record has NULL value for the salary and second record has a zero value for the salary.</a:t>
            </a:r>
          </a:p>
        </p:txBody>
      </p:sp>
    </p:spTree>
    <p:extLst>
      <p:ext uri="{BB962C8B-B14F-4D97-AF65-F5344CB8AC3E}">
        <p14:creationId xmlns:p14="http://schemas.microsoft.com/office/powerpoint/2010/main" val="26776384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2E5AA5F-81D2-E163-B416-06C81D6D3FAD}"/>
              </a:ext>
            </a:extLst>
          </p:cNvPr>
          <p:cNvSpPr txBox="1"/>
          <p:nvPr/>
        </p:nvSpPr>
        <p:spPr>
          <a:xfrm>
            <a:off x="813733" y="901140"/>
            <a:ext cx="9798341" cy="2308324"/>
          </a:xfrm>
          <a:prstGeom prst="rect">
            <a:avLst/>
          </a:prstGeom>
          <a:noFill/>
        </p:spPr>
        <p:txBody>
          <a:bodyPr wrap="square">
            <a:spAutoFit/>
          </a:bodyPr>
          <a:lstStyle/>
          <a:p>
            <a:r>
              <a:rPr lang="en-US" dirty="0">
                <a:solidFill>
                  <a:srgbClr val="FF0000"/>
                </a:solidFill>
              </a:rPr>
              <a:t>SQL Databases</a:t>
            </a:r>
          </a:p>
          <a:p>
            <a:endParaRPr lang="en-US" dirty="0"/>
          </a:p>
          <a:p>
            <a:endParaRPr lang="en-US" dirty="0"/>
          </a:p>
          <a:p>
            <a:r>
              <a:rPr lang="en-US" dirty="0"/>
              <a:t>Relational databases are used to store and manage the data objects that are related to one another, i.e. the process of handling data in a relational database is done based on a relational model. This relational model is an approach to manage data in a structured way (using tables). A system used to manage these relational databases is known as Relational Database Management System (RDBMS).</a:t>
            </a:r>
          </a:p>
        </p:txBody>
      </p:sp>
      <p:sp>
        <p:nvSpPr>
          <p:cNvPr id="5" name="TextBox 4">
            <a:extLst>
              <a:ext uri="{FF2B5EF4-FFF2-40B4-BE49-F238E27FC236}">
                <a16:creationId xmlns:a16="http://schemas.microsoft.com/office/drawing/2014/main" id="{EEDE7ED0-3B4E-FFC6-12E6-A43C90AB4CE5}"/>
              </a:ext>
            </a:extLst>
          </p:cNvPr>
          <p:cNvSpPr txBox="1"/>
          <p:nvPr/>
        </p:nvSpPr>
        <p:spPr>
          <a:xfrm>
            <a:off x="748716" y="3371537"/>
            <a:ext cx="9729133" cy="2585323"/>
          </a:xfrm>
          <a:prstGeom prst="rect">
            <a:avLst/>
          </a:prstGeom>
          <a:noFill/>
        </p:spPr>
        <p:txBody>
          <a:bodyPr wrap="square">
            <a:spAutoFit/>
          </a:bodyPr>
          <a:lstStyle/>
          <a:p>
            <a:r>
              <a:rPr lang="en-US" dirty="0"/>
              <a:t>There are many popular RDBMS available to work with. Some of the most popular RDBMS are listed below −</a:t>
            </a:r>
          </a:p>
          <a:p>
            <a:endParaRPr lang="en-US" dirty="0"/>
          </a:p>
          <a:p>
            <a:r>
              <a:rPr lang="en-US" dirty="0"/>
              <a:t>MySQL</a:t>
            </a:r>
          </a:p>
          <a:p>
            <a:r>
              <a:rPr lang="en-US" dirty="0"/>
              <a:t>MS SQL Server</a:t>
            </a:r>
          </a:p>
          <a:p>
            <a:r>
              <a:rPr lang="en-US" dirty="0"/>
              <a:t>ORACLE</a:t>
            </a:r>
          </a:p>
          <a:p>
            <a:r>
              <a:rPr lang="en-US" dirty="0"/>
              <a:t>MS ACCESS</a:t>
            </a:r>
          </a:p>
          <a:p>
            <a:r>
              <a:rPr lang="en-US" dirty="0"/>
              <a:t>PostgreSQL</a:t>
            </a:r>
          </a:p>
          <a:p>
            <a:r>
              <a:rPr lang="en-US" dirty="0"/>
              <a:t>SQLite</a:t>
            </a:r>
          </a:p>
        </p:txBody>
      </p:sp>
    </p:spTree>
    <p:extLst>
      <p:ext uri="{BB962C8B-B14F-4D97-AF65-F5344CB8AC3E}">
        <p14:creationId xmlns:p14="http://schemas.microsoft.com/office/powerpoint/2010/main" val="38492680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5D0A748-4684-2733-E310-D7C1FFF970B6}"/>
              </a:ext>
            </a:extLst>
          </p:cNvPr>
          <p:cNvSpPr txBox="1"/>
          <p:nvPr/>
        </p:nvSpPr>
        <p:spPr>
          <a:xfrm>
            <a:off x="201336" y="476442"/>
            <a:ext cx="11299970" cy="4524315"/>
          </a:xfrm>
          <a:prstGeom prst="rect">
            <a:avLst/>
          </a:prstGeom>
          <a:noFill/>
        </p:spPr>
        <p:txBody>
          <a:bodyPr wrap="square">
            <a:spAutoFit/>
          </a:bodyPr>
          <a:lstStyle/>
          <a:p>
            <a:r>
              <a:rPr lang="en-US" dirty="0">
                <a:solidFill>
                  <a:srgbClr val="FF0000"/>
                </a:solidFill>
              </a:rPr>
              <a:t>What is SQL Syntax?</a:t>
            </a:r>
          </a:p>
          <a:p>
            <a:endParaRPr lang="en-US" dirty="0"/>
          </a:p>
          <a:p>
            <a:r>
              <a:rPr lang="en-US" dirty="0"/>
              <a:t>SQL is followed by a unique set of rules and guidelines called Syntax. This tutorial gives you a quick start with SQL by listing all the basic SQL Syntax.</a:t>
            </a:r>
          </a:p>
          <a:p>
            <a:endParaRPr lang="en-US" dirty="0"/>
          </a:p>
          <a:p>
            <a:r>
              <a:rPr lang="en-US" dirty="0"/>
              <a:t>All the SQL statements start with any of the keywords like SELECT, INSERT, UPDATE, DELETE, ALTER, DROP, CREATE, USE, SHOW and all the statements end with a semicolon (;).</a:t>
            </a:r>
          </a:p>
          <a:p>
            <a:endParaRPr lang="en-US" dirty="0"/>
          </a:p>
          <a:p>
            <a:r>
              <a:rPr lang="en-US" dirty="0">
                <a:solidFill>
                  <a:srgbClr val="FF0000"/>
                </a:solidFill>
              </a:rPr>
              <a:t>Case Sensitivity</a:t>
            </a:r>
          </a:p>
          <a:p>
            <a:r>
              <a:rPr lang="en-US" dirty="0"/>
              <a:t>The most important point to be noted here is that </a:t>
            </a:r>
            <a:r>
              <a:rPr lang="en-US" dirty="0">
                <a:solidFill>
                  <a:srgbClr val="0070C0"/>
                </a:solidFill>
              </a:rPr>
              <a:t>SQL is case insensitive</a:t>
            </a:r>
            <a:r>
              <a:rPr lang="en-US" dirty="0"/>
              <a:t>, which means SELECT and Select have same meaning in SQL statements. Whereas, </a:t>
            </a:r>
            <a:r>
              <a:rPr lang="en-US" dirty="0">
                <a:solidFill>
                  <a:srgbClr val="0070C0"/>
                </a:solidFill>
              </a:rPr>
              <a:t>MySQL</a:t>
            </a:r>
            <a:r>
              <a:rPr lang="en-US" dirty="0"/>
              <a:t> makes difference in table names. So, if you are working with MySQL, then you need to give table names as they exist in the database.</a:t>
            </a:r>
          </a:p>
          <a:p>
            <a:endParaRPr lang="en-US" dirty="0"/>
          </a:p>
          <a:p>
            <a:r>
              <a:rPr lang="en-US" dirty="0"/>
              <a:t>SQL Table</a:t>
            </a:r>
          </a:p>
          <a:p>
            <a:r>
              <a:rPr lang="en-US" dirty="0"/>
              <a:t>Let us consider a table with the name EMPLOYEES shown below, and use it as a reference to demonstrate all the SQL Statements on the same.</a:t>
            </a:r>
          </a:p>
        </p:txBody>
      </p:sp>
    </p:spTree>
    <p:extLst>
      <p:ext uri="{BB962C8B-B14F-4D97-AF65-F5344CB8AC3E}">
        <p14:creationId xmlns:p14="http://schemas.microsoft.com/office/powerpoint/2010/main" val="10621301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40EE9A4-D8AE-8D4B-4E69-4232B478C4E2}"/>
              </a:ext>
            </a:extLst>
          </p:cNvPr>
          <p:cNvSpPr txBox="1"/>
          <p:nvPr/>
        </p:nvSpPr>
        <p:spPr>
          <a:xfrm>
            <a:off x="411060" y="519198"/>
            <a:ext cx="11006356" cy="2862322"/>
          </a:xfrm>
          <a:prstGeom prst="rect">
            <a:avLst/>
          </a:prstGeom>
          <a:noFill/>
        </p:spPr>
        <p:txBody>
          <a:bodyPr wrap="square">
            <a:spAutoFit/>
          </a:bodyPr>
          <a:lstStyle/>
          <a:p>
            <a:r>
              <a:rPr lang="en-US" dirty="0"/>
              <a:t>What are SQL Data types?</a:t>
            </a:r>
          </a:p>
          <a:p>
            <a:endParaRPr lang="en-US" dirty="0"/>
          </a:p>
          <a:p>
            <a:r>
              <a:rPr lang="en-US" dirty="0"/>
              <a:t>An SQL data type refers to the type of data which can be stored in a column of a database table. For example integer data, character data, monetary data, date and time data, binary strings, and so on.</a:t>
            </a:r>
          </a:p>
          <a:p>
            <a:endParaRPr lang="en-US" dirty="0"/>
          </a:p>
          <a:p>
            <a:r>
              <a:rPr lang="en-US" dirty="0"/>
              <a:t>While creating a database table in a database, we need to specify following two attributes to define a table column:</a:t>
            </a:r>
          </a:p>
          <a:p>
            <a:endParaRPr lang="en-US" dirty="0"/>
          </a:p>
          <a:p>
            <a:r>
              <a:rPr lang="en-US" dirty="0"/>
              <a:t>Name of the column</a:t>
            </a:r>
          </a:p>
          <a:p>
            <a:r>
              <a:rPr lang="en-US" dirty="0"/>
              <a:t>Data type of the column</a:t>
            </a:r>
          </a:p>
        </p:txBody>
      </p:sp>
      <p:sp>
        <p:nvSpPr>
          <p:cNvPr id="5" name="TextBox 4">
            <a:extLst>
              <a:ext uri="{FF2B5EF4-FFF2-40B4-BE49-F238E27FC236}">
                <a16:creationId xmlns:a16="http://schemas.microsoft.com/office/drawing/2014/main" id="{FF103474-5DE4-EF10-59FD-3B6F46A2EAB1}"/>
              </a:ext>
            </a:extLst>
          </p:cNvPr>
          <p:cNvSpPr txBox="1"/>
          <p:nvPr/>
        </p:nvSpPr>
        <p:spPr>
          <a:xfrm>
            <a:off x="329268" y="3749285"/>
            <a:ext cx="10844868" cy="1754326"/>
          </a:xfrm>
          <a:prstGeom prst="rect">
            <a:avLst/>
          </a:prstGeom>
          <a:noFill/>
        </p:spPr>
        <p:txBody>
          <a:bodyPr wrap="square">
            <a:spAutoFit/>
          </a:bodyPr>
          <a:lstStyle/>
          <a:p>
            <a:r>
              <a:rPr lang="en-US" dirty="0"/>
              <a:t>Types of SQL Data Types</a:t>
            </a:r>
          </a:p>
          <a:p>
            <a:r>
              <a:rPr lang="en-US" dirty="0"/>
              <a:t>There are three main types of SQL data types available in any RDBMS. They are listed below −</a:t>
            </a:r>
          </a:p>
          <a:p>
            <a:endParaRPr lang="en-US" dirty="0"/>
          </a:p>
          <a:p>
            <a:r>
              <a:rPr lang="en-US" dirty="0"/>
              <a:t>String</a:t>
            </a:r>
          </a:p>
          <a:p>
            <a:r>
              <a:rPr lang="en-US" dirty="0"/>
              <a:t>Numeric</a:t>
            </a:r>
          </a:p>
          <a:p>
            <a:r>
              <a:rPr lang="en-US" dirty="0"/>
              <a:t>Date and Time</a:t>
            </a:r>
          </a:p>
        </p:txBody>
      </p:sp>
    </p:spTree>
    <p:extLst>
      <p:ext uri="{BB962C8B-B14F-4D97-AF65-F5344CB8AC3E}">
        <p14:creationId xmlns:p14="http://schemas.microsoft.com/office/powerpoint/2010/main" val="19563795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C287957-92EF-2474-78DA-30494D86F543}"/>
              </a:ext>
            </a:extLst>
          </p:cNvPr>
          <p:cNvSpPr txBox="1"/>
          <p:nvPr/>
        </p:nvSpPr>
        <p:spPr>
          <a:xfrm>
            <a:off x="176169" y="219038"/>
            <a:ext cx="12306650" cy="5909310"/>
          </a:xfrm>
          <a:prstGeom prst="rect">
            <a:avLst/>
          </a:prstGeom>
          <a:noFill/>
        </p:spPr>
        <p:txBody>
          <a:bodyPr wrap="square">
            <a:spAutoFit/>
          </a:bodyPr>
          <a:lstStyle/>
          <a:p>
            <a:r>
              <a:rPr lang="en-US" dirty="0">
                <a:solidFill>
                  <a:srgbClr val="FF0000"/>
                </a:solidFill>
              </a:rPr>
              <a:t>MySQL - String Data Types</a:t>
            </a:r>
          </a:p>
          <a:p>
            <a:endParaRPr lang="en-US" dirty="0"/>
          </a:p>
          <a:p>
            <a:r>
              <a:rPr lang="en-US" dirty="0"/>
              <a:t>Data type	Description</a:t>
            </a:r>
          </a:p>
          <a:p>
            <a:endParaRPr lang="en-US" dirty="0"/>
          </a:p>
          <a:p>
            <a:r>
              <a:rPr lang="en-US" dirty="0"/>
              <a:t>CHAR(size)	A fixed length string which can have letters, numbers, and special characters. The size parameter specifies the column length in characters which can vary from </a:t>
            </a:r>
            <a:r>
              <a:rPr lang="en-US" dirty="0" err="1"/>
              <a:t>from</a:t>
            </a:r>
            <a:r>
              <a:rPr lang="en-US" dirty="0"/>
              <a:t> 0 to 255. Default size is 1</a:t>
            </a:r>
          </a:p>
          <a:p>
            <a:endParaRPr lang="en-US" dirty="0"/>
          </a:p>
          <a:p>
            <a:r>
              <a:rPr lang="en-US" dirty="0"/>
              <a:t>VARCHAR(size)	A variable length string which can contain letters, numbers, and special characters. The size parameter specifies the maximum string length in characters which can vary from 0 to 65535.</a:t>
            </a:r>
          </a:p>
          <a:p>
            <a:endParaRPr lang="en-US" dirty="0"/>
          </a:p>
          <a:p>
            <a:r>
              <a:rPr lang="en-US" dirty="0"/>
              <a:t>BINARY(size)	This is equal to CHAR(), but stores binary byte strings. The size parameter specifies the column length in bytes. Default size is 1</a:t>
            </a:r>
          </a:p>
          <a:p>
            <a:endParaRPr lang="en-US" dirty="0"/>
          </a:p>
          <a:p>
            <a:r>
              <a:rPr lang="en-US" dirty="0"/>
              <a:t>VARBINARY(size)	This is equal to VARCHAR(), but stores binary byte strings. The size parameter specifies the maximum column length in bytes.</a:t>
            </a:r>
          </a:p>
          <a:p>
            <a:endParaRPr lang="en-US" dirty="0"/>
          </a:p>
          <a:p>
            <a:r>
              <a:rPr lang="en-US" dirty="0"/>
              <a:t>TINYTEXT 	This holds a string with a maximum length of 255 characters</a:t>
            </a:r>
          </a:p>
          <a:p>
            <a:r>
              <a:rPr lang="en-US" dirty="0"/>
              <a:t>TEXT(size)	This holds a string with a maximum length of 65,535 bytes</a:t>
            </a:r>
          </a:p>
          <a:p>
            <a:r>
              <a:rPr lang="en-US" dirty="0"/>
              <a:t>LONGTEXT	This holds a string with a maximum length of 4,294,967,295 characters</a:t>
            </a:r>
          </a:p>
          <a:p>
            <a:r>
              <a:rPr lang="en-US" dirty="0"/>
              <a:t>TINYBLOB	This represents a small BLOBs (Binary Large Objects). Max length is 255 bytes</a:t>
            </a:r>
          </a:p>
          <a:p>
            <a:r>
              <a:rPr lang="en-US" dirty="0"/>
              <a:t>BLOB(size)	This represents a BLOBs (Binary Large Objects). Holds up to 65,535 bytes of data</a:t>
            </a:r>
          </a:p>
        </p:txBody>
      </p:sp>
    </p:spTree>
    <p:extLst>
      <p:ext uri="{BB962C8B-B14F-4D97-AF65-F5344CB8AC3E}">
        <p14:creationId xmlns:p14="http://schemas.microsoft.com/office/powerpoint/2010/main" val="39877615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B814D51-3421-DD9B-0F55-BA691EE922F3}"/>
              </a:ext>
            </a:extLst>
          </p:cNvPr>
          <p:cNvSpPr txBox="1"/>
          <p:nvPr/>
        </p:nvSpPr>
        <p:spPr>
          <a:xfrm>
            <a:off x="419450" y="426920"/>
            <a:ext cx="11610363" cy="4801314"/>
          </a:xfrm>
          <a:prstGeom prst="rect">
            <a:avLst/>
          </a:prstGeom>
          <a:noFill/>
        </p:spPr>
        <p:txBody>
          <a:bodyPr wrap="square">
            <a:spAutoFit/>
          </a:bodyPr>
          <a:lstStyle/>
          <a:p>
            <a:r>
              <a:rPr lang="en-US" dirty="0">
                <a:solidFill>
                  <a:srgbClr val="FF0000"/>
                </a:solidFill>
              </a:rPr>
              <a:t>MySQL - Numeric Data Types</a:t>
            </a:r>
          </a:p>
          <a:p>
            <a:endParaRPr lang="en-US" dirty="0"/>
          </a:p>
          <a:p>
            <a:endParaRPr lang="en-US" dirty="0"/>
          </a:p>
          <a:p>
            <a:r>
              <a:rPr lang="en-US" dirty="0"/>
              <a:t>Data type	Description</a:t>
            </a:r>
          </a:p>
          <a:p>
            <a:endParaRPr lang="en-US" dirty="0"/>
          </a:p>
          <a:p>
            <a:r>
              <a:rPr lang="en-US" dirty="0"/>
              <a:t>INT	A normal-sized integer that can be signed or unsigned. If signed, the allowable range is from -2147483648 to 2147483647. If unsigned, the allowable range is from 0 to 4294967295. You can specify a width of up to 11 digits.</a:t>
            </a:r>
          </a:p>
          <a:p>
            <a:endParaRPr lang="en-US" dirty="0"/>
          </a:p>
          <a:p>
            <a:r>
              <a:rPr lang="en-US" dirty="0"/>
              <a:t>TINYINT	A very small integer that can be signed or unsigned. If signed, the allowable range is from -128 to 127. If unsigned, the allowable range is from 0 to 255. You can specify a width of up to 4 digits.</a:t>
            </a:r>
          </a:p>
          <a:p>
            <a:endParaRPr lang="en-US" dirty="0"/>
          </a:p>
          <a:p>
            <a:r>
              <a:rPr lang="en-US" dirty="0"/>
              <a:t>SMALLINT	A small integer that can be signed or unsigned. If signed, the allowable range is from -32768 to 32767. If unsigned, the allowable range is from 0 to 65535. You can specify a width of up to 5 digits.</a:t>
            </a:r>
          </a:p>
          <a:p>
            <a:endParaRPr lang="en-US" dirty="0"/>
          </a:p>
          <a:p>
            <a:r>
              <a:rPr lang="en-US" dirty="0"/>
              <a:t>MEDIUMINT	A medium-sized integer that can be signed or unsigned. If signed, the allowable range is from -8388608 to 8388607. If unsigned, the allowable range is from 0 to 16777215. You can specify a width of up to 9 digits.</a:t>
            </a:r>
          </a:p>
        </p:txBody>
      </p:sp>
    </p:spTree>
    <p:extLst>
      <p:ext uri="{BB962C8B-B14F-4D97-AF65-F5344CB8AC3E}">
        <p14:creationId xmlns:p14="http://schemas.microsoft.com/office/powerpoint/2010/main" val="41274691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21D324F-0479-BE52-1C7F-982984F65583}"/>
              </a:ext>
            </a:extLst>
          </p:cNvPr>
          <p:cNvSpPr txBox="1"/>
          <p:nvPr/>
        </p:nvSpPr>
        <p:spPr>
          <a:xfrm>
            <a:off x="83889" y="346332"/>
            <a:ext cx="11878811" cy="5355312"/>
          </a:xfrm>
          <a:prstGeom prst="rect">
            <a:avLst/>
          </a:prstGeom>
          <a:noFill/>
        </p:spPr>
        <p:txBody>
          <a:bodyPr wrap="square">
            <a:spAutoFit/>
          </a:bodyPr>
          <a:lstStyle/>
          <a:p>
            <a:r>
              <a:rPr lang="en-US" dirty="0">
                <a:solidFill>
                  <a:srgbClr val="FF0000"/>
                </a:solidFill>
              </a:rPr>
              <a:t>MySQL - Date and Time Data Types</a:t>
            </a:r>
          </a:p>
          <a:p>
            <a:endParaRPr lang="en-US" dirty="0"/>
          </a:p>
          <a:p>
            <a:r>
              <a:rPr lang="en-US" dirty="0"/>
              <a:t>Data type	Description</a:t>
            </a:r>
          </a:p>
          <a:p>
            <a:endParaRPr lang="en-US" dirty="0"/>
          </a:p>
          <a:p>
            <a:r>
              <a:rPr lang="en-US" dirty="0"/>
              <a:t>DATE	A date in YYYY-MM-DD format, between 1000-01-01 and 9999-12-31. For example, December 30th, 1973 would be stored as 1973-12-30.</a:t>
            </a:r>
          </a:p>
          <a:p>
            <a:endParaRPr lang="en-US" dirty="0"/>
          </a:p>
          <a:p>
            <a:r>
              <a:rPr lang="en-US" dirty="0"/>
              <a:t>DATETIME	A date and time combination in YYYY-MM-DD HH:MM:SS format, between 1000-01-01 00:00:00 and 9999-12-31 23:59:59. For example, 3:30 in the afternoon on December 30th, 1973 would be stored as 1973-12-30 15:30:00.</a:t>
            </a:r>
          </a:p>
          <a:p>
            <a:endParaRPr lang="en-US" dirty="0"/>
          </a:p>
          <a:p>
            <a:r>
              <a:rPr lang="en-US" dirty="0"/>
              <a:t>TIMESTAMP	A timestamp between midnight, January 1st, 1970 and sometime in 2037. This looks like the previous DATETIME format, only without the hyphens between numbers; 3:30 in the afternoon on December 30th, 1973 would be stored as 19731230153000 ( YYYYMMDDHHMMSS ).</a:t>
            </a:r>
          </a:p>
          <a:p>
            <a:endParaRPr lang="en-US" dirty="0"/>
          </a:p>
          <a:p>
            <a:r>
              <a:rPr lang="en-US" dirty="0"/>
              <a:t>TIME	Stores the time in a HH:MM:SS format.</a:t>
            </a:r>
          </a:p>
          <a:p>
            <a:endParaRPr lang="en-US" dirty="0"/>
          </a:p>
          <a:p>
            <a:r>
              <a:rPr lang="en-US" dirty="0"/>
              <a:t>YEAR(M)	Stores a year in a 2-digit or a 4-digit format. If the length is specified as 2 (for example YEAR(2)), YEAR can be between 1970 to 2069 (70 to 69). If the length is specified as 4, then YEAR can be 1901 to 2155. The default length is 4.</a:t>
            </a:r>
          </a:p>
        </p:txBody>
      </p:sp>
    </p:spTree>
    <p:extLst>
      <p:ext uri="{BB962C8B-B14F-4D97-AF65-F5344CB8AC3E}">
        <p14:creationId xmlns:p14="http://schemas.microsoft.com/office/powerpoint/2010/main" val="1721289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08AC4B-8170-B6AD-F60B-7D94104D7781}"/>
              </a:ext>
            </a:extLst>
          </p:cNvPr>
          <p:cNvSpPr txBox="1"/>
          <p:nvPr/>
        </p:nvSpPr>
        <p:spPr>
          <a:xfrm>
            <a:off x="394282" y="1307439"/>
            <a:ext cx="11039911" cy="4801314"/>
          </a:xfrm>
          <a:prstGeom prst="rect">
            <a:avLst/>
          </a:prstGeom>
          <a:noFill/>
        </p:spPr>
        <p:txBody>
          <a:bodyPr wrap="square">
            <a:spAutoFit/>
          </a:bodyPr>
          <a:lstStyle/>
          <a:p>
            <a:r>
              <a:rPr lang="en-US" dirty="0"/>
              <a:t>Data type	Description</a:t>
            </a:r>
          </a:p>
          <a:p>
            <a:endParaRPr lang="en-US" dirty="0"/>
          </a:p>
          <a:p>
            <a:r>
              <a:rPr lang="en-US" dirty="0"/>
              <a:t>char(n)	It holds the character string with the fixed width. Maximum size of this data type is 8000 characters.</a:t>
            </a:r>
          </a:p>
          <a:p>
            <a:endParaRPr lang="en-US" dirty="0"/>
          </a:p>
          <a:p>
            <a:r>
              <a:rPr lang="en-US" dirty="0"/>
              <a:t>varchar(n)	It holds the character string with the variable width. Maximum size of this data type is also 8000 characters.</a:t>
            </a:r>
          </a:p>
          <a:p>
            <a:endParaRPr lang="en-US" dirty="0"/>
          </a:p>
          <a:p>
            <a:r>
              <a:rPr lang="en-US" dirty="0"/>
              <a:t>varchar(max)	It holds the character string with the variable width. Maximum size of this data type is 1073741824 characters.</a:t>
            </a:r>
          </a:p>
          <a:p>
            <a:endParaRPr lang="en-US" dirty="0"/>
          </a:p>
          <a:p>
            <a:r>
              <a:rPr lang="en-US" dirty="0"/>
              <a:t>text	It holds the character string with the variable width. This data type can store up to maximum of 2GB text data.</a:t>
            </a:r>
          </a:p>
          <a:p>
            <a:endParaRPr lang="en-US" dirty="0"/>
          </a:p>
          <a:p>
            <a:r>
              <a:rPr lang="en-US" dirty="0" err="1"/>
              <a:t>nchar</a:t>
            </a:r>
            <a:r>
              <a:rPr lang="en-US" dirty="0"/>
              <a:t>	It holds the Unicode string with the fixed width. Maximum size of this data type is also 4000 characters.</a:t>
            </a:r>
          </a:p>
          <a:p>
            <a:endParaRPr lang="en-US" dirty="0"/>
          </a:p>
          <a:p>
            <a:r>
              <a:rPr lang="en-US" dirty="0" err="1"/>
              <a:t>nvarchar</a:t>
            </a:r>
            <a:r>
              <a:rPr lang="en-US" dirty="0"/>
              <a:t>	It holds the Unicode string with the variable width. Maximum size of this data type is also 4000 characters.</a:t>
            </a:r>
          </a:p>
        </p:txBody>
      </p:sp>
    </p:spTree>
    <p:extLst>
      <p:ext uri="{BB962C8B-B14F-4D97-AF65-F5344CB8AC3E}">
        <p14:creationId xmlns:p14="http://schemas.microsoft.com/office/powerpoint/2010/main" val="24286842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72F681-1D93-C03A-BC45-1D0BF3C00D2D}"/>
              </a:ext>
            </a:extLst>
          </p:cNvPr>
          <p:cNvSpPr txBox="1"/>
          <p:nvPr/>
        </p:nvSpPr>
        <p:spPr>
          <a:xfrm>
            <a:off x="494950" y="614942"/>
            <a:ext cx="11148969" cy="4524315"/>
          </a:xfrm>
          <a:prstGeom prst="rect">
            <a:avLst/>
          </a:prstGeom>
          <a:noFill/>
        </p:spPr>
        <p:txBody>
          <a:bodyPr wrap="square">
            <a:spAutoFit/>
          </a:bodyPr>
          <a:lstStyle/>
          <a:p>
            <a:r>
              <a:rPr lang="en-US" dirty="0">
                <a:solidFill>
                  <a:srgbClr val="FF0000"/>
                </a:solidFill>
              </a:rPr>
              <a:t>What is an Operator in SQL?</a:t>
            </a:r>
          </a:p>
          <a:p>
            <a:endParaRPr lang="en-US" dirty="0"/>
          </a:p>
          <a:p>
            <a:r>
              <a:rPr lang="en-US" dirty="0"/>
              <a:t>An SQL operator is a reserved word or a character used primarily in an SQL statement's WHERE clause to perform operation(s), such as comparisons and arithmetic operations. These Operators are used to specify conditions in an SQL statement and to serve as conjunctions for multiple conditions in a statement.</a:t>
            </a:r>
          </a:p>
          <a:p>
            <a:endParaRPr lang="en-US" dirty="0"/>
          </a:p>
          <a:p>
            <a:r>
              <a:rPr lang="en-US" dirty="0"/>
              <a:t>An SQL operator can be either a unary or binary operator. A unary operator (example unary + or unary - ) uses only one operand to perform the unary operation, whereas the binary operator (example + or - </a:t>
            </a:r>
            <a:r>
              <a:rPr lang="en-US" dirty="0" err="1"/>
              <a:t>etc</a:t>
            </a:r>
            <a:r>
              <a:rPr lang="en-US" dirty="0"/>
              <a:t>) uses two operands to perform the binary operation.</a:t>
            </a:r>
          </a:p>
          <a:p>
            <a:endParaRPr lang="en-US" dirty="0"/>
          </a:p>
          <a:p>
            <a:r>
              <a:rPr lang="en-US" dirty="0"/>
              <a:t>SQL supports following types of operators:</a:t>
            </a:r>
          </a:p>
          <a:p>
            <a:endParaRPr lang="en-US" dirty="0"/>
          </a:p>
          <a:p>
            <a:r>
              <a:rPr lang="en-US" dirty="0"/>
              <a:t>Arithmetic operators</a:t>
            </a:r>
          </a:p>
          <a:p>
            <a:r>
              <a:rPr lang="en-US" dirty="0"/>
              <a:t>Comparison operators</a:t>
            </a:r>
          </a:p>
          <a:p>
            <a:r>
              <a:rPr lang="en-US" dirty="0"/>
              <a:t>Logical operators</a:t>
            </a:r>
          </a:p>
          <a:p>
            <a:r>
              <a:rPr lang="en-US" dirty="0"/>
              <a:t>Operators used to negate conditions</a:t>
            </a:r>
          </a:p>
        </p:txBody>
      </p:sp>
    </p:spTree>
    <p:extLst>
      <p:ext uri="{BB962C8B-B14F-4D97-AF65-F5344CB8AC3E}">
        <p14:creationId xmlns:p14="http://schemas.microsoft.com/office/powerpoint/2010/main" val="2411892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2E5A80-1C6F-7406-0845-4B27AA2503B2}"/>
              </a:ext>
            </a:extLst>
          </p:cNvPr>
          <p:cNvSpPr txBox="1"/>
          <p:nvPr/>
        </p:nvSpPr>
        <p:spPr>
          <a:xfrm>
            <a:off x="394282" y="292534"/>
            <a:ext cx="10972800" cy="3693319"/>
          </a:xfrm>
          <a:prstGeom prst="rect">
            <a:avLst/>
          </a:prstGeom>
          <a:noFill/>
        </p:spPr>
        <p:txBody>
          <a:bodyPr wrap="square">
            <a:spAutoFit/>
          </a:bodyPr>
          <a:lstStyle/>
          <a:p>
            <a:r>
              <a:rPr lang="en-US" dirty="0">
                <a:solidFill>
                  <a:srgbClr val="FF0000"/>
                </a:solidFill>
              </a:rPr>
              <a:t>SQL Arithmetic Operators</a:t>
            </a:r>
          </a:p>
          <a:p>
            <a:endParaRPr lang="en-US" dirty="0"/>
          </a:p>
          <a:p>
            <a:r>
              <a:rPr lang="en-US" dirty="0"/>
              <a:t>SQL Arithmetic Operators are used to perform </a:t>
            </a:r>
            <a:r>
              <a:rPr lang="en-US" dirty="0">
                <a:solidFill>
                  <a:srgbClr val="0070C0"/>
                </a:solidFill>
              </a:rPr>
              <a:t>mathematical operations </a:t>
            </a:r>
            <a:r>
              <a:rPr lang="en-US" dirty="0"/>
              <a:t>on the numerical values. SQL provides following operators to perform mathematical operations.</a:t>
            </a:r>
          </a:p>
          <a:p>
            <a:endParaRPr lang="en-US" dirty="0"/>
          </a:p>
          <a:p>
            <a:r>
              <a:rPr lang="en-US" dirty="0"/>
              <a:t>Here is a list of all the arithmetic operators available in SQL.</a:t>
            </a:r>
          </a:p>
          <a:p>
            <a:endParaRPr lang="en-US" dirty="0"/>
          </a:p>
          <a:p>
            <a:r>
              <a:rPr lang="en-US" dirty="0"/>
              <a:t>Operator	Description	Example</a:t>
            </a:r>
          </a:p>
          <a:p>
            <a:r>
              <a:rPr lang="en-US" dirty="0"/>
              <a:t>+	Addition	10 + 20 = 30</a:t>
            </a:r>
          </a:p>
          <a:p>
            <a:r>
              <a:rPr lang="en-US" dirty="0"/>
              <a:t>-	Subtraction	20 - 30 = -10</a:t>
            </a:r>
          </a:p>
          <a:p>
            <a:r>
              <a:rPr lang="en-US" dirty="0"/>
              <a:t>*	Multiplication	10 * 20 = 200</a:t>
            </a:r>
          </a:p>
          <a:p>
            <a:r>
              <a:rPr lang="en-US" dirty="0"/>
              <a:t>/	Division	20 / 10 = 2</a:t>
            </a:r>
          </a:p>
          <a:p>
            <a:r>
              <a:rPr lang="en-US" dirty="0"/>
              <a:t>%	Modulus	5 % 2 = 1</a:t>
            </a:r>
          </a:p>
        </p:txBody>
      </p:sp>
    </p:spTree>
    <p:extLst>
      <p:ext uri="{BB962C8B-B14F-4D97-AF65-F5344CB8AC3E}">
        <p14:creationId xmlns:p14="http://schemas.microsoft.com/office/powerpoint/2010/main" val="35317946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C5DD476-19FD-1F7B-9EDD-9166203C0D52}"/>
              </a:ext>
            </a:extLst>
          </p:cNvPr>
          <p:cNvSpPr txBox="1"/>
          <p:nvPr/>
        </p:nvSpPr>
        <p:spPr>
          <a:xfrm>
            <a:off x="318782" y="476442"/>
            <a:ext cx="11652308" cy="5355312"/>
          </a:xfrm>
          <a:prstGeom prst="rect">
            <a:avLst/>
          </a:prstGeom>
          <a:noFill/>
        </p:spPr>
        <p:txBody>
          <a:bodyPr wrap="square">
            <a:spAutoFit/>
          </a:bodyPr>
          <a:lstStyle/>
          <a:p>
            <a:r>
              <a:rPr lang="en-US" dirty="0">
                <a:solidFill>
                  <a:srgbClr val="FF0000"/>
                </a:solidFill>
              </a:rPr>
              <a:t>SQL Comparison Operators</a:t>
            </a:r>
          </a:p>
          <a:p>
            <a:endParaRPr lang="en-US" dirty="0"/>
          </a:p>
          <a:p>
            <a:r>
              <a:rPr lang="en-US" dirty="0"/>
              <a:t>SQL Comparison Operators test whether two given expressions are the same or not. These operators are used in SQL conditional statements while comparing one expression with another and they return a Boolean value which can be either TRUE or FALSE. The result of an SQL comparison operation can be UNKNOWN when one or another operand has it's value as NULL.</a:t>
            </a:r>
          </a:p>
          <a:p>
            <a:endParaRPr lang="en-US" dirty="0"/>
          </a:p>
          <a:p>
            <a:r>
              <a:rPr lang="en-US" dirty="0"/>
              <a:t>Here is a list of all the comparison operators available in SQL.</a:t>
            </a:r>
          </a:p>
          <a:p>
            <a:endParaRPr lang="en-US" dirty="0"/>
          </a:p>
          <a:p>
            <a:r>
              <a:rPr lang="en-US" dirty="0"/>
              <a:t>Operator	Description	Example</a:t>
            </a:r>
          </a:p>
          <a:p>
            <a:r>
              <a:rPr lang="en-US" dirty="0"/>
              <a:t>=	Equal to	5 = 5 returns TRUE</a:t>
            </a:r>
          </a:p>
          <a:p>
            <a:r>
              <a:rPr lang="en-US" dirty="0"/>
              <a:t>!=	Not equal	5 != 6 returns TRUE</a:t>
            </a:r>
          </a:p>
          <a:p>
            <a:r>
              <a:rPr lang="en-US" dirty="0"/>
              <a:t>&lt;&gt;	Not equal	5 &lt;&gt; 4 returns TRUE</a:t>
            </a:r>
          </a:p>
          <a:p>
            <a:r>
              <a:rPr lang="en-US" dirty="0"/>
              <a:t>&gt;	Greater than	4 &gt; 5 returns FALSE</a:t>
            </a:r>
          </a:p>
          <a:p>
            <a:r>
              <a:rPr lang="en-US" dirty="0"/>
              <a:t>&lt;	Less than	4 &lt; 5 returns TRUE</a:t>
            </a:r>
          </a:p>
          <a:p>
            <a:r>
              <a:rPr lang="en-US" dirty="0"/>
              <a:t>&gt;=	Greater than or equal to	4 &gt;= 5 returns FALSE</a:t>
            </a:r>
          </a:p>
          <a:p>
            <a:r>
              <a:rPr lang="en-US" dirty="0"/>
              <a:t>&lt;=	Less than or equal to	4 &lt;= 5 returns TRUE</a:t>
            </a:r>
          </a:p>
          <a:p>
            <a:r>
              <a:rPr lang="en-US" dirty="0"/>
              <a:t>!&lt;	Not less than	4 !&lt; 5 returns FALSE</a:t>
            </a:r>
          </a:p>
          <a:p>
            <a:r>
              <a:rPr lang="en-US" dirty="0"/>
              <a:t>!&gt;	Not greater than	4 !&gt; 5 returns TRUE</a:t>
            </a:r>
          </a:p>
        </p:txBody>
      </p:sp>
    </p:spTree>
    <p:extLst>
      <p:ext uri="{BB962C8B-B14F-4D97-AF65-F5344CB8AC3E}">
        <p14:creationId xmlns:p14="http://schemas.microsoft.com/office/powerpoint/2010/main" val="202749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C0F3057-FD26-9A30-C036-05C8EE565073}"/>
              </a:ext>
            </a:extLst>
          </p:cNvPr>
          <p:cNvSpPr txBox="1"/>
          <p:nvPr/>
        </p:nvSpPr>
        <p:spPr>
          <a:xfrm>
            <a:off x="176169" y="303414"/>
            <a:ext cx="12074554" cy="5909310"/>
          </a:xfrm>
          <a:prstGeom prst="rect">
            <a:avLst/>
          </a:prstGeom>
          <a:noFill/>
        </p:spPr>
        <p:txBody>
          <a:bodyPr wrap="square">
            <a:spAutoFit/>
          </a:bodyPr>
          <a:lstStyle/>
          <a:p>
            <a:r>
              <a:rPr lang="en-US" dirty="0">
                <a:solidFill>
                  <a:srgbClr val="FF0000"/>
                </a:solidFill>
              </a:rPr>
              <a:t>SQL Logical Operators</a:t>
            </a:r>
          </a:p>
          <a:p>
            <a:endParaRPr lang="en-US" dirty="0"/>
          </a:p>
          <a:p>
            <a:r>
              <a:rPr lang="en-US" dirty="0"/>
              <a:t>SQL Logical Operators are very similar to comparison operators and they test for the truth of some given condition. These operators return a Boolean value which can be either a TRUE or FALSE. The result of an SQL logical operation can be UNKNOWN when one or another operand has it's value as NULL.</a:t>
            </a:r>
          </a:p>
          <a:p>
            <a:endParaRPr lang="en-US" dirty="0"/>
          </a:p>
          <a:p>
            <a:r>
              <a:rPr lang="en-US" dirty="0"/>
              <a:t>Here is a list of all the logical operators available in SQL.</a:t>
            </a:r>
          </a:p>
          <a:p>
            <a:endParaRPr lang="en-US" dirty="0"/>
          </a:p>
          <a:p>
            <a:r>
              <a:rPr lang="en-US" dirty="0"/>
              <a:t>Operator	Description	Example</a:t>
            </a:r>
          </a:p>
          <a:p>
            <a:r>
              <a:rPr lang="en-US" dirty="0"/>
              <a:t>ALL	TRUE if all of a set of comparisons are TRUE.</a:t>
            </a:r>
          </a:p>
          <a:p>
            <a:r>
              <a:rPr lang="en-US" dirty="0"/>
              <a:t>AND	TRUE if all the conditions separated by AND are TRUE.</a:t>
            </a:r>
          </a:p>
          <a:p>
            <a:r>
              <a:rPr lang="en-US" dirty="0"/>
              <a:t>ANY	TRUE if any one of a set of comparisons are TRUE.</a:t>
            </a:r>
          </a:p>
          <a:p>
            <a:r>
              <a:rPr lang="en-US" dirty="0"/>
              <a:t>BETWEEN	TRUE if the operand lies within the range of comparisons.</a:t>
            </a:r>
          </a:p>
          <a:p>
            <a:r>
              <a:rPr lang="en-US" dirty="0"/>
              <a:t>EXISTS	TRUE if the subquery returns one or more </a:t>
            </a:r>
            <a:r>
              <a:rPr lang="en-US" dirty="0" err="1"/>
              <a:t>recorD</a:t>
            </a:r>
            <a:endParaRPr lang="en-US" dirty="0"/>
          </a:p>
          <a:p>
            <a:r>
              <a:rPr lang="en-US" dirty="0"/>
              <a:t>IN	TRUE if the operand is equal to one of a list of expressions.	</a:t>
            </a:r>
          </a:p>
          <a:p>
            <a:r>
              <a:rPr lang="en-US" dirty="0"/>
              <a:t>LIKE	TRUE if the operand matches a pattern specially with wildcard.</a:t>
            </a:r>
          </a:p>
          <a:p>
            <a:r>
              <a:rPr lang="en-US" dirty="0"/>
              <a:t>NOT	Reverses the value of any other Boolean operator</a:t>
            </a:r>
          </a:p>
          <a:p>
            <a:r>
              <a:rPr lang="en-US" dirty="0"/>
              <a:t>OR	TRUE if any of the conditions separated by OR is TRU</a:t>
            </a:r>
          </a:p>
          <a:p>
            <a:r>
              <a:rPr lang="en-US" dirty="0"/>
              <a:t>IS NULL	TRUE if the expression value is NULL.</a:t>
            </a:r>
          </a:p>
          <a:p>
            <a:r>
              <a:rPr lang="en-US" dirty="0"/>
              <a:t>SOME	TRUE if some of a set of comparisons are TRUE</a:t>
            </a:r>
          </a:p>
          <a:p>
            <a:r>
              <a:rPr lang="en-US" dirty="0"/>
              <a:t>UNIQUE	The UNIQUE operator searches every row of a specified table for uniqueness (no duplicates)</a:t>
            </a:r>
          </a:p>
        </p:txBody>
      </p:sp>
    </p:spTree>
    <p:extLst>
      <p:ext uri="{BB962C8B-B14F-4D97-AF65-F5344CB8AC3E}">
        <p14:creationId xmlns:p14="http://schemas.microsoft.com/office/powerpoint/2010/main" val="32345819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4F8C4F8-42C5-B497-C563-2862E5B2D4BE}"/>
              </a:ext>
            </a:extLst>
          </p:cNvPr>
          <p:cNvSpPr txBox="1"/>
          <p:nvPr/>
        </p:nvSpPr>
        <p:spPr>
          <a:xfrm>
            <a:off x="142613" y="557029"/>
            <a:ext cx="8999290" cy="3970318"/>
          </a:xfrm>
          <a:prstGeom prst="rect">
            <a:avLst/>
          </a:prstGeom>
          <a:noFill/>
        </p:spPr>
        <p:txBody>
          <a:bodyPr wrap="square">
            <a:spAutoFit/>
          </a:bodyPr>
          <a:lstStyle/>
          <a:p>
            <a:r>
              <a:rPr lang="en-US" dirty="0"/>
              <a:t>CREATE Database Statement</a:t>
            </a:r>
          </a:p>
          <a:p>
            <a:endParaRPr lang="en-US" dirty="0"/>
          </a:p>
          <a:p>
            <a:endParaRPr lang="en-US" dirty="0"/>
          </a:p>
          <a:p>
            <a:r>
              <a:rPr lang="en-US" dirty="0"/>
              <a:t>The CREATE DATABASE statement is a DDL (Data Definition Language) statement used to create a new database in SQL. If you are creating your database on Linux or Unix, then database names are case-sensitive, even though SQL keywords are case-insensitive. If you are working on Windows then this restriction does not apply.</a:t>
            </a:r>
          </a:p>
          <a:p>
            <a:endParaRPr lang="en-US" dirty="0"/>
          </a:p>
          <a:p>
            <a:r>
              <a:rPr lang="en-US" dirty="0"/>
              <a:t>Syntax</a:t>
            </a:r>
          </a:p>
          <a:p>
            <a:r>
              <a:rPr lang="en-US" dirty="0"/>
              <a:t>Following is the syntax to create a database in SQL −</a:t>
            </a:r>
          </a:p>
          <a:p>
            <a:endParaRPr lang="en-US" dirty="0"/>
          </a:p>
          <a:p>
            <a:r>
              <a:rPr lang="en-US" b="1" i="0" dirty="0">
                <a:solidFill>
                  <a:srgbClr val="0070C0"/>
                </a:solidFill>
                <a:effectLst/>
                <a:latin typeface="Courier New" panose="02070309020205020404" pitchFamily="49" charset="0"/>
              </a:rPr>
              <a:t>CREATE DATABASE </a:t>
            </a:r>
            <a:r>
              <a:rPr lang="en-US" b="1" i="0" dirty="0" err="1">
                <a:solidFill>
                  <a:srgbClr val="0070C0"/>
                </a:solidFill>
                <a:effectLst/>
                <a:latin typeface="Courier New" panose="02070309020205020404" pitchFamily="49" charset="0"/>
              </a:rPr>
              <a:t>DatabaseName</a:t>
            </a:r>
            <a:r>
              <a:rPr lang="en-US" b="1" i="0" dirty="0">
                <a:solidFill>
                  <a:srgbClr val="0070C0"/>
                </a:solidFill>
                <a:effectLst/>
                <a:latin typeface="Courier New" panose="02070309020205020404" pitchFamily="49" charset="0"/>
              </a:rPr>
              <a:t>;</a:t>
            </a:r>
          </a:p>
          <a:p>
            <a:endParaRPr lang="en-US" b="1" dirty="0">
              <a:solidFill>
                <a:srgbClr val="0070C0"/>
              </a:solidFill>
              <a:latin typeface="Courier New" panose="02070309020205020404" pitchFamily="49" charset="0"/>
            </a:endParaRPr>
          </a:p>
          <a:p>
            <a:endParaRPr lang="en-US" b="1" dirty="0">
              <a:solidFill>
                <a:srgbClr val="0070C0"/>
              </a:solidFill>
            </a:endParaRPr>
          </a:p>
        </p:txBody>
      </p:sp>
    </p:spTree>
    <p:extLst>
      <p:ext uri="{BB962C8B-B14F-4D97-AF65-F5344CB8AC3E}">
        <p14:creationId xmlns:p14="http://schemas.microsoft.com/office/powerpoint/2010/main" val="18353051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81E8867-05ED-965A-ECA1-6963CA63EA66}"/>
              </a:ext>
            </a:extLst>
          </p:cNvPr>
          <p:cNvSpPr txBox="1"/>
          <p:nvPr/>
        </p:nvSpPr>
        <p:spPr>
          <a:xfrm>
            <a:off x="234892" y="313263"/>
            <a:ext cx="11383860" cy="5078313"/>
          </a:xfrm>
          <a:prstGeom prst="rect">
            <a:avLst/>
          </a:prstGeom>
          <a:noFill/>
        </p:spPr>
        <p:txBody>
          <a:bodyPr wrap="square">
            <a:spAutoFit/>
          </a:bodyPr>
          <a:lstStyle/>
          <a:p>
            <a:r>
              <a:rPr lang="en-US" dirty="0"/>
              <a:t>DROP DATABASE </a:t>
            </a:r>
          </a:p>
          <a:p>
            <a:endParaRPr lang="en-US" dirty="0"/>
          </a:p>
          <a:p>
            <a:r>
              <a:rPr lang="en-US" dirty="0"/>
              <a:t>The SQL DROP DATABASE statement is used to delete an existing database along with all the data such as tables, views, indexes, stored procedures, and constraints.</a:t>
            </a:r>
          </a:p>
          <a:p>
            <a:endParaRPr lang="en-US" dirty="0"/>
          </a:p>
          <a:p>
            <a:r>
              <a:rPr lang="en-US" dirty="0"/>
              <a:t>DROP Database Statement</a:t>
            </a:r>
          </a:p>
          <a:p>
            <a:endParaRPr lang="en-US" dirty="0"/>
          </a:p>
          <a:p>
            <a:r>
              <a:rPr lang="en-US" dirty="0"/>
              <a:t>Following are the important points to remember before you delete an existing database −</a:t>
            </a:r>
          </a:p>
          <a:p>
            <a:endParaRPr lang="en-US" dirty="0"/>
          </a:p>
          <a:p>
            <a:r>
              <a:rPr lang="en-US" dirty="0"/>
              <a:t>Make sure you have taken proper backup of the database before you delete it.</a:t>
            </a:r>
          </a:p>
          <a:p>
            <a:r>
              <a:rPr lang="en-US" dirty="0"/>
              <a:t>Make sure no other application is connected and using this database.</a:t>
            </a:r>
          </a:p>
          <a:p>
            <a:r>
              <a:rPr lang="en-US" dirty="0"/>
              <a:t>Make sure you have the necessary privilege to delete the database. Usually an admin can delete the </a:t>
            </a:r>
            <a:r>
              <a:rPr lang="en-US" dirty="0" err="1"/>
              <a:t>databaase</a:t>
            </a:r>
            <a:r>
              <a:rPr lang="en-US" dirty="0"/>
              <a:t>.</a:t>
            </a:r>
          </a:p>
          <a:p>
            <a:endParaRPr lang="en-US" dirty="0"/>
          </a:p>
          <a:p>
            <a:endParaRPr lang="en-US" dirty="0"/>
          </a:p>
          <a:p>
            <a:r>
              <a:rPr lang="en-US" dirty="0"/>
              <a:t>Syntax</a:t>
            </a:r>
          </a:p>
          <a:p>
            <a:r>
              <a:rPr lang="en-US" dirty="0"/>
              <a:t>Following is the syntax to delete a database in SQL −</a:t>
            </a:r>
          </a:p>
          <a:p>
            <a:endParaRPr lang="en-US" dirty="0"/>
          </a:p>
          <a:p>
            <a:r>
              <a:rPr lang="en-US" b="0" i="0" dirty="0">
                <a:solidFill>
                  <a:srgbClr val="0070C0"/>
                </a:solidFill>
                <a:effectLst/>
                <a:latin typeface="Courier New" panose="02070309020205020404" pitchFamily="49" charset="0"/>
              </a:rPr>
              <a:t>DROP DATABASE </a:t>
            </a:r>
            <a:r>
              <a:rPr lang="en-US" b="0" i="0" dirty="0" err="1">
                <a:solidFill>
                  <a:srgbClr val="0070C0"/>
                </a:solidFill>
                <a:effectLst/>
                <a:latin typeface="Courier New" panose="02070309020205020404" pitchFamily="49" charset="0"/>
              </a:rPr>
              <a:t>DatabaseName</a:t>
            </a:r>
            <a:r>
              <a:rPr lang="en-US" b="0" i="0" dirty="0">
                <a:solidFill>
                  <a:srgbClr val="0070C0"/>
                </a:solidFill>
                <a:effectLst/>
                <a:latin typeface="Courier New" panose="02070309020205020404" pitchFamily="49" charset="0"/>
              </a:rPr>
              <a:t>;</a:t>
            </a:r>
            <a:endParaRPr lang="en-US" dirty="0">
              <a:solidFill>
                <a:srgbClr val="0070C0"/>
              </a:solidFill>
            </a:endParaRPr>
          </a:p>
        </p:txBody>
      </p:sp>
    </p:spTree>
    <p:extLst>
      <p:ext uri="{BB962C8B-B14F-4D97-AF65-F5344CB8AC3E}">
        <p14:creationId xmlns:p14="http://schemas.microsoft.com/office/powerpoint/2010/main" val="27731856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04982AA-FAB5-3590-4D42-F2196D7BFA33}"/>
              </a:ext>
            </a:extLst>
          </p:cNvPr>
          <p:cNvSpPr txBox="1"/>
          <p:nvPr/>
        </p:nvSpPr>
        <p:spPr>
          <a:xfrm>
            <a:off x="144710" y="347630"/>
            <a:ext cx="11742490" cy="3693319"/>
          </a:xfrm>
          <a:prstGeom prst="rect">
            <a:avLst/>
          </a:prstGeom>
          <a:noFill/>
        </p:spPr>
        <p:txBody>
          <a:bodyPr wrap="square">
            <a:spAutoFit/>
          </a:bodyPr>
          <a:lstStyle/>
          <a:p>
            <a:r>
              <a:rPr lang="en-US" dirty="0"/>
              <a:t>Rename Database using SQL</a:t>
            </a:r>
          </a:p>
          <a:p>
            <a:endParaRPr lang="en-US" dirty="0"/>
          </a:p>
          <a:p>
            <a:endParaRPr lang="en-US" dirty="0"/>
          </a:p>
          <a:p>
            <a:r>
              <a:rPr lang="en-US" dirty="0"/>
              <a:t>SQL provides a simple RENAME DATABASE...TO statement to rename an existing database. If you want to rename a database, make sure there is no active transaction in progress otherwise the complete operation might halt once you rename the database.</a:t>
            </a:r>
          </a:p>
          <a:p>
            <a:endParaRPr lang="en-US" dirty="0"/>
          </a:p>
          <a:p>
            <a:r>
              <a:rPr lang="en-US" dirty="0"/>
              <a:t>Syntax</a:t>
            </a:r>
          </a:p>
          <a:p>
            <a:r>
              <a:rPr lang="en-US" dirty="0"/>
              <a:t>Following is the syntax of the RENAME DATABASE...TO statement −</a:t>
            </a:r>
          </a:p>
          <a:p>
            <a:endParaRPr lang="en-US" dirty="0"/>
          </a:p>
          <a:p>
            <a:r>
              <a:rPr lang="en-US" dirty="0">
                <a:solidFill>
                  <a:srgbClr val="0070C0"/>
                </a:solidFill>
              </a:rPr>
              <a:t>RENAME DATABASE </a:t>
            </a:r>
            <a:r>
              <a:rPr lang="en-US" dirty="0" err="1">
                <a:solidFill>
                  <a:srgbClr val="0070C0"/>
                </a:solidFill>
              </a:rPr>
              <a:t>OldDatabaseName</a:t>
            </a:r>
            <a:r>
              <a:rPr lang="en-US" dirty="0">
                <a:solidFill>
                  <a:srgbClr val="0070C0"/>
                </a:solidFill>
              </a:rPr>
              <a:t> TO </a:t>
            </a:r>
            <a:r>
              <a:rPr lang="en-US" dirty="0" err="1">
                <a:solidFill>
                  <a:srgbClr val="0070C0"/>
                </a:solidFill>
              </a:rPr>
              <a:t>NewDatabaseName</a:t>
            </a:r>
            <a:r>
              <a:rPr lang="en-US" dirty="0">
                <a:solidFill>
                  <a:srgbClr val="0070C0"/>
                </a:solidFill>
              </a:rPr>
              <a:t>;</a:t>
            </a:r>
          </a:p>
          <a:p>
            <a:endParaRPr lang="en-US" dirty="0">
              <a:solidFill>
                <a:srgbClr val="0070C0"/>
              </a:solidFill>
            </a:endParaRPr>
          </a:p>
          <a:p>
            <a:endParaRPr lang="en-US" dirty="0">
              <a:solidFill>
                <a:srgbClr val="0070C0"/>
              </a:solidFill>
            </a:endParaRPr>
          </a:p>
        </p:txBody>
      </p:sp>
    </p:spTree>
    <p:extLst>
      <p:ext uri="{BB962C8B-B14F-4D97-AF65-F5344CB8AC3E}">
        <p14:creationId xmlns:p14="http://schemas.microsoft.com/office/powerpoint/2010/main" val="27330939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83FE649-B5DD-01F1-A13E-2764989AE4E4}"/>
              </a:ext>
            </a:extLst>
          </p:cNvPr>
          <p:cNvSpPr txBox="1"/>
          <p:nvPr/>
        </p:nvSpPr>
        <p:spPr>
          <a:xfrm>
            <a:off x="402672" y="614942"/>
            <a:ext cx="11140579" cy="4801314"/>
          </a:xfrm>
          <a:prstGeom prst="rect">
            <a:avLst/>
          </a:prstGeom>
          <a:noFill/>
        </p:spPr>
        <p:txBody>
          <a:bodyPr wrap="square">
            <a:spAutoFit/>
          </a:bodyPr>
          <a:lstStyle/>
          <a:p>
            <a:r>
              <a:rPr lang="en-US" dirty="0"/>
              <a:t>The SQL CREATE TABLE Statement</a:t>
            </a:r>
            <a:br>
              <a:rPr lang="en-US" dirty="0"/>
            </a:br>
            <a:endParaRPr lang="en-US" dirty="0"/>
          </a:p>
          <a:p>
            <a:r>
              <a:rPr lang="en-US" dirty="0"/>
              <a:t>SQL provides the CREATE TABLE statement to create a new table in a given database. An SQL query to create a table must define the structure of a table. The structure consists of the name of a table and names of columns in the table with each column's data type. Note that each table must be uniquely named in a database.</a:t>
            </a:r>
          </a:p>
          <a:p>
            <a:endParaRPr lang="en-US" dirty="0"/>
          </a:p>
          <a:p>
            <a:r>
              <a:rPr lang="en-US" dirty="0"/>
              <a:t>Syntax</a:t>
            </a:r>
          </a:p>
          <a:p>
            <a:r>
              <a:rPr lang="en-US" dirty="0"/>
              <a:t>Following is the basic syntax of a SQL CREATE TABLE statement −</a:t>
            </a:r>
          </a:p>
          <a:p>
            <a:endParaRPr lang="en-US" dirty="0"/>
          </a:p>
          <a:p>
            <a:r>
              <a:rPr lang="en-US" dirty="0"/>
              <a:t>CREATE TABLE </a:t>
            </a:r>
            <a:r>
              <a:rPr lang="en-US" dirty="0" err="1"/>
              <a:t>table_name</a:t>
            </a:r>
            <a:r>
              <a:rPr lang="en-US" dirty="0"/>
              <a:t>(</a:t>
            </a:r>
          </a:p>
          <a:p>
            <a:r>
              <a:rPr lang="en-US" dirty="0"/>
              <a:t>   column1 datatype,</a:t>
            </a:r>
          </a:p>
          <a:p>
            <a:r>
              <a:rPr lang="en-US" dirty="0"/>
              <a:t>   column2 datatype,</a:t>
            </a:r>
          </a:p>
          <a:p>
            <a:r>
              <a:rPr lang="en-US" dirty="0"/>
              <a:t>   column3 datatype,</a:t>
            </a:r>
          </a:p>
          <a:p>
            <a:r>
              <a:rPr lang="en-US" dirty="0"/>
              <a:t>   .....</a:t>
            </a:r>
          </a:p>
          <a:p>
            <a:r>
              <a:rPr lang="en-US" dirty="0"/>
              <a:t>   </a:t>
            </a:r>
            <a:r>
              <a:rPr lang="en-US" dirty="0" err="1"/>
              <a:t>columnN</a:t>
            </a:r>
            <a:r>
              <a:rPr lang="en-US" dirty="0"/>
              <a:t> datatype,</a:t>
            </a:r>
          </a:p>
          <a:p>
            <a:r>
              <a:rPr lang="en-US" dirty="0"/>
              <a:t>   PRIMARY KEY( one or more columns )</a:t>
            </a:r>
          </a:p>
          <a:p>
            <a:r>
              <a:rPr lang="en-US" dirty="0"/>
              <a:t>);</a:t>
            </a:r>
          </a:p>
        </p:txBody>
      </p:sp>
    </p:spTree>
    <p:extLst>
      <p:ext uri="{BB962C8B-B14F-4D97-AF65-F5344CB8AC3E}">
        <p14:creationId xmlns:p14="http://schemas.microsoft.com/office/powerpoint/2010/main" val="3667058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3E31DA9-B572-30BB-D966-FF2C196E7258}"/>
              </a:ext>
            </a:extLst>
          </p:cNvPr>
          <p:cNvSpPr txBox="1"/>
          <p:nvPr/>
        </p:nvSpPr>
        <p:spPr>
          <a:xfrm>
            <a:off x="387291" y="561468"/>
            <a:ext cx="11417417" cy="4801314"/>
          </a:xfrm>
          <a:prstGeom prst="rect">
            <a:avLst/>
          </a:prstGeom>
          <a:noFill/>
        </p:spPr>
        <p:txBody>
          <a:bodyPr wrap="square">
            <a:spAutoFit/>
          </a:bodyPr>
          <a:lstStyle/>
          <a:p>
            <a:r>
              <a:rPr lang="en-US" dirty="0"/>
              <a:t>MySQL - Listing Tables</a:t>
            </a:r>
            <a:br>
              <a:rPr lang="en-US" dirty="0"/>
            </a:br>
            <a:endParaRPr lang="en-US" dirty="0"/>
          </a:p>
          <a:p>
            <a:r>
              <a:rPr lang="en-US" dirty="0"/>
              <a:t>You can use SQL SHOW TABLES statements in MySQL to list down all the tables available in a selected database.</a:t>
            </a:r>
          </a:p>
          <a:p>
            <a:endParaRPr lang="en-US" dirty="0"/>
          </a:p>
          <a:p>
            <a:r>
              <a:rPr lang="en-US" dirty="0"/>
              <a:t>Syntax</a:t>
            </a:r>
          </a:p>
          <a:p>
            <a:r>
              <a:rPr lang="en-US" dirty="0"/>
              <a:t>Following is the syntax to list all the tables in SQL in MySQL −</a:t>
            </a:r>
            <a:br>
              <a:rPr lang="en-US" dirty="0"/>
            </a:br>
            <a:endParaRPr lang="en-US" dirty="0">
              <a:solidFill>
                <a:srgbClr val="0070C0"/>
              </a:solidFill>
            </a:endParaRPr>
          </a:p>
          <a:p>
            <a:r>
              <a:rPr lang="en-US" dirty="0">
                <a:solidFill>
                  <a:srgbClr val="0070C0"/>
                </a:solidFill>
              </a:rPr>
              <a:t>SHOW TABLES;</a:t>
            </a:r>
          </a:p>
          <a:p>
            <a:endParaRPr lang="en-US" dirty="0">
              <a:solidFill>
                <a:srgbClr val="0070C0"/>
              </a:solidFill>
            </a:endParaRPr>
          </a:p>
          <a:p>
            <a:endParaRPr lang="en-US" dirty="0">
              <a:solidFill>
                <a:srgbClr val="0070C0"/>
              </a:solidFill>
            </a:endParaRPr>
          </a:p>
          <a:p>
            <a:r>
              <a:rPr lang="en-US" dirty="0"/>
              <a:t>The SQL RENAME TABLE Statement</a:t>
            </a:r>
          </a:p>
          <a:p>
            <a:r>
              <a:rPr lang="en-US" dirty="0"/>
              <a:t>You can change a MySQL table name using SQL RENAME TABLE statement.</a:t>
            </a:r>
          </a:p>
          <a:p>
            <a:endParaRPr lang="en-US" dirty="0"/>
          </a:p>
          <a:p>
            <a:r>
              <a:rPr lang="en-US" dirty="0"/>
              <a:t>Syntax</a:t>
            </a:r>
          </a:p>
          <a:p>
            <a:r>
              <a:rPr lang="en-US" dirty="0"/>
              <a:t>Following is the syntax of the SQL RENAME TABLE Statement −</a:t>
            </a:r>
            <a:br>
              <a:rPr lang="en-US" dirty="0"/>
            </a:br>
            <a:br>
              <a:rPr lang="en-US" dirty="0"/>
            </a:br>
            <a:r>
              <a:rPr lang="en-US" dirty="0">
                <a:solidFill>
                  <a:srgbClr val="0070C0"/>
                </a:solidFill>
              </a:rPr>
              <a:t>RENAME TABLE </a:t>
            </a:r>
            <a:r>
              <a:rPr lang="en-US" dirty="0" err="1">
                <a:solidFill>
                  <a:srgbClr val="0070C0"/>
                </a:solidFill>
              </a:rPr>
              <a:t>table_name</a:t>
            </a:r>
            <a:r>
              <a:rPr lang="en-US" dirty="0">
                <a:solidFill>
                  <a:srgbClr val="0070C0"/>
                </a:solidFill>
              </a:rPr>
              <a:t> TO </a:t>
            </a:r>
            <a:r>
              <a:rPr lang="en-US" dirty="0" err="1">
                <a:solidFill>
                  <a:srgbClr val="0070C0"/>
                </a:solidFill>
              </a:rPr>
              <a:t>new_table_name</a:t>
            </a:r>
            <a:r>
              <a:rPr lang="en-US" dirty="0">
                <a:solidFill>
                  <a:srgbClr val="0070C0"/>
                </a:solidFill>
              </a:rPr>
              <a:t>;</a:t>
            </a:r>
          </a:p>
        </p:txBody>
      </p:sp>
    </p:spTree>
    <p:extLst>
      <p:ext uri="{BB962C8B-B14F-4D97-AF65-F5344CB8AC3E}">
        <p14:creationId xmlns:p14="http://schemas.microsoft.com/office/powerpoint/2010/main" val="39100254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ED0D23-FAD3-5254-2290-C59949DA06F8}"/>
              </a:ext>
            </a:extLst>
          </p:cNvPr>
          <p:cNvSpPr txBox="1"/>
          <p:nvPr/>
        </p:nvSpPr>
        <p:spPr>
          <a:xfrm>
            <a:off x="352338" y="1168940"/>
            <a:ext cx="11409027" cy="3970318"/>
          </a:xfrm>
          <a:prstGeom prst="rect">
            <a:avLst/>
          </a:prstGeom>
          <a:noFill/>
        </p:spPr>
        <p:txBody>
          <a:bodyPr wrap="square">
            <a:spAutoFit/>
          </a:bodyPr>
          <a:lstStyle/>
          <a:p>
            <a:r>
              <a:rPr lang="en-US" dirty="0"/>
              <a:t>The SQL Where Clause</a:t>
            </a:r>
          </a:p>
          <a:p>
            <a:endParaRPr lang="en-US" dirty="0"/>
          </a:p>
          <a:p>
            <a:r>
              <a:rPr lang="en-US" dirty="0"/>
              <a:t>The SQL WHERE clause is used to filter the results obtained by the DML statements such as SELECT, UPDATE and DELETE etc. We can retrieve the data from a single table or multiple tables(after join operation) using the WHERE clause.</a:t>
            </a:r>
          </a:p>
          <a:p>
            <a:endParaRPr lang="en-US" dirty="0"/>
          </a:p>
          <a:p>
            <a:r>
              <a:rPr lang="en-US" dirty="0"/>
              <a:t>For instance, you can use the WHERE clause to retrieve details of employees of a department in an organization, or employees earning salary above/below certain amount, or details of students eligible for scholarships etc. This clause basically provides the specification of which records to be retrieved and which are to be to be neglected.</a:t>
            </a:r>
          </a:p>
          <a:p>
            <a:endParaRPr lang="en-US" dirty="0"/>
          </a:p>
          <a:p>
            <a:r>
              <a:rPr lang="en-US" dirty="0"/>
              <a:t>Syntax</a:t>
            </a:r>
          </a:p>
          <a:p>
            <a:r>
              <a:rPr lang="en-US" dirty="0"/>
              <a:t>The basic syntax of the SQL WHERE clause is as shown below −</a:t>
            </a:r>
          </a:p>
          <a:p>
            <a:endParaRPr lang="en-US" dirty="0"/>
          </a:p>
          <a:p>
            <a:r>
              <a:rPr lang="en-US" b="0" i="0" dirty="0" err="1">
                <a:solidFill>
                  <a:srgbClr val="0070C0"/>
                </a:solidFill>
                <a:effectLst/>
                <a:latin typeface="Courier New" panose="02070309020205020404" pitchFamily="49" charset="0"/>
              </a:rPr>
              <a:t>DML_Statement</a:t>
            </a:r>
            <a:r>
              <a:rPr lang="en-US" b="0" i="0" dirty="0">
                <a:solidFill>
                  <a:srgbClr val="0070C0"/>
                </a:solidFill>
                <a:effectLst/>
                <a:latin typeface="Courier New" panose="02070309020205020404" pitchFamily="49" charset="0"/>
              </a:rPr>
              <a:t> column1, column2,... </a:t>
            </a:r>
            <a:r>
              <a:rPr lang="en-US" b="0" i="0" dirty="0" err="1">
                <a:solidFill>
                  <a:srgbClr val="0070C0"/>
                </a:solidFill>
                <a:effectLst/>
                <a:latin typeface="Courier New" panose="02070309020205020404" pitchFamily="49" charset="0"/>
              </a:rPr>
              <a:t>columnN</a:t>
            </a:r>
            <a:r>
              <a:rPr lang="en-US" b="0" i="0" dirty="0">
                <a:solidFill>
                  <a:srgbClr val="0070C0"/>
                </a:solidFill>
                <a:effectLst/>
                <a:latin typeface="Courier New" panose="02070309020205020404" pitchFamily="49" charset="0"/>
              </a:rPr>
              <a:t> FROM </a:t>
            </a:r>
            <a:r>
              <a:rPr lang="en-US" b="0" i="0" dirty="0" err="1">
                <a:solidFill>
                  <a:srgbClr val="0070C0"/>
                </a:solidFill>
                <a:effectLst/>
                <a:latin typeface="Courier New" panose="02070309020205020404" pitchFamily="49" charset="0"/>
              </a:rPr>
              <a:t>table_name</a:t>
            </a:r>
            <a:r>
              <a:rPr lang="en-US" b="0" i="0" dirty="0">
                <a:solidFill>
                  <a:srgbClr val="0070C0"/>
                </a:solidFill>
                <a:effectLst/>
                <a:latin typeface="Courier New" panose="02070309020205020404" pitchFamily="49" charset="0"/>
              </a:rPr>
              <a:t> WHERE [condition];</a:t>
            </a:r>
            <a:endParaRPr lang="en-US" dirty="0">
              <a:solidFill>
                <a:srgbClr val="0070C0"/>
              </a:solidFill>
            </a:endParaRPr>
          </a:p>
        </p:txBody>
      </p:sp>
    </p:spTree>
    <p:extLst>
      <p:ext uri="{BB962C8B-B14F-4D97-AF65-F5344CB8AC3E}">
        <p14:creationId xmlns:p14="http://schemas.microsoft.com/office/powerpoint/2010/main" val="1021686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1893017-01FD-34A2-8420-47BDEA724B92}"/>
              </a:ext>
            </a:extLst>
          </p:cNvPr>
          <p:cNvSpPr txBox="1"/>
          <p:nvPr/>
        </p:nvSpPr>
        <p:spPr>
          <a:xfrm>
            <a:off x="478172" y="753441"/>
            <a:ext cx="11283193" cy="4524315"/>
          </a:xfrm>
          <a:prstGeom prst="rect">
            <a:avLst/>
          </a:prstGeom>
          <a:noFill/>
        </p:spPr>
        <p:txBody>
          <a:bodyPr wrap="square">
            <a:spAutoFit/>
          </a:bodyPr>
          <a:lstStyle/>
          <a:p>
            <a:r>
              <a:rPr lang="en-US" dirty="0"/>
              <a:t>The SQL TOP Clause</a:t>
            </a:r>
          </a:p>
          <a:p>
            <a:endParaRPr lang="en-US" dirty="0"/>
          </a:p>
          <a:p>
            <a:r>
              <a:rPr lang="en-US" dirty="0"/>
              <a:t>While we are retrieving data from an SQL table, the SQL TOP clause is used to restrict the number of rows returned by a SELECT query in SQL server. In addition, we can also use it with UPDATE and DELETE statements to limit (restrict) the resultant records.</a:t>
            </a:r>
          </a:p>
          <a:p>
            <a:endParaRPr lang="en-US" dirty="0"/>
          </a:p>
          <a:p>
            <a:r>
              <a:rPr lang="en-US" dirty="0"/>
              <a:t>For instance, if you have a large number of data stored in a database table, and you only want to perform operations on first N rows, you can use the TOP clause in your SQL server query.</a:t>
            </a:r>
          </a:p>
          <a:p>
            <a:endParaRPr lang="en-US" dirty="0"/>
          </a:p>
          <a:p>
            <a:r>
              <a:rPr lang="en-US" dirty="0">
                <a:solidFill>
                  <a:srgbClr val="FF0000"/>
                </a:solidFill>
              </a:rPr>
              <a:t>MySQL database does not support TOP clause instead of this, we can use the LIMIT clause to select a limited number of records from a MySQL table. Similarly, Oracle supports the ROWNUM clause to restrict the records of a table. The TOP clause is similar to the LIMIT clause.</a:t>
            </a:r>
          </a:p>
          <a:p>
            <a:r>
              <a:rPr lang="en-US" dirty="0"/>
              <a:t>Syntax</a:t>
            </a:r>
          </a:p>
          <a:p>
            <a:r>
              <a:rPr lang="en-US" dirty="0"/>
              <a:t>The basic syntax of the SQL TOP clause is as follows −</a:t>
            </a:r>
          </a:p>
          <a:p>
            <a:endParaRPr lang="en-US" dirty="0"/>
          </a:p>
          <a:p>
            <a:r>
              <a:rPr lang="en-US" b="0" i="0" dirty="0">
                <a:solidFill>
                  <a:srgbClr val="0070C0"/>
                </a:solidFill>
                <a:effectLst/>
                <a:latin typeface="Courier New" panose="02070309020205020404" pitchFamily="49" charset="0"/>
              </a:rPr>
              <a:t>SELECT TOP value </a:t>
            </a:r>
            <a:r>
              <a:rPr lang="en-US" b="0" i="0" dirty="0" err="1">
                <a:solidFill>
                  <a:srgbClr val="0070C0"/>
                </a:solidFill>
                <a:effectLst/>
                <a:latin typeface="Courier New" panose="02070309020205020404" pitchFamily="49" charset="0"/>
              </a:rPr>
              <a:t>column_name</a:t>
            </a:r>
            <a:r>
              <a:rPr lang="en-US" b="0" i="0" dirty="0">
                <a:solidFill>
                  <a:srgbClr val="0070C0"/>
                </a:solidFill>
                <a:effectLst/>
                <a:latin typeface="Courier New" panose="02070309020205020404" pitchFamily="49" charset="0"/>
              </a:rPr>
              <a:t>(s) FROM </a:t>
            </a:r>
            <a:r>
              <a:rPr lang="en-US" b="0" i="0" dirty="0" err="1">
                <a:solidFill>
                  <a:srgbClr val="0070C0"/>
                </a:solidFill>
                <a:effectLst/>
                <a:latin typeface="Courier New" panose="02070309020205020404" pitchFamily="49" charset="0"/>
              </a:rPr>
              <a:t>table_name</a:t>
            </a:r>
            <a:r>
              <a:rPr lang="en-US" b="0" i="0" dirty="0">
                <a:solidFill>
                  <a:srgbClr val="0070C0"/>
                </a:solidFill>
                <a:effectLst/>
                <a:latin typeface="Courier New" panose="02070309020205020404" pitchFamily="49" charset="0"/>
              </a:rPr>
              <a:t> WHERE [condition]</a:t>
            </a:r>
            <a:endParaRPr lang="en-US" dirty="0">
              <a:solidFill>
                <a:srgbClr val="0070C0"/>
              </a:solidFill>
            </a:endParaRPr>
          </a:p>
        </p:txBody>
      </p:sp>
    </p:spTree>
    <p:extLst>
      <p:ext uri="{BB962C8B-B14F-4D97-AF65-F5344CB8AC3E}">
        <p14:creationId xmlns:p14="http://schemas.microsoft.com/office/powerpoint/2010/main" val="39116839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8A1B70B-93B7-67B5-1FA7-D1E3E37E454D}"/>
              </a:ext>
            </a:extLst>
          </p:cNvPr>
          <p:cNvSpPr txBox="1"/>
          <p:nvPr/>
        </p:nvSpPr>
        <p:spPr>
          <a:xfrm>
            <a:off x="461394" y="1307439"/>
            <a:ext cx="11400639" cy="4247317"/>
          </a:xfrm>
          <a:prstGeom prst="rect">
            <a:avLst/>
          </a:prstGeom>
          <a:noFill/>
        </p:spPr>
        <p:txBody>
          <a:bodyPr wrap="square">
            <a:spAutoFit/>
          </a:bodyPr>
          <a:lstStyle/>
          <a:p>
            <a:r>
              <a:rPr lang="en-US" dirty="0"/>
              <a:t>The SQL DISTINCT Keyword</a:t>
            </a:r>
          </a:p>
          <a:p>
            <a:endParaRPr lang="en-US" dirty="0"/>
          </a:p>
          <a:p>
            <a:endParaRPr lang="en-US" dirty="0"/>
          </a:p>
          <a:p>
            <a:r>
              <a:rPr lang="en-US" dirty="0"/>
              <a:t>The SQL DISTINCT keyword is used in conjunction with the SELECT statement to fetch unique records from a table.</a:t>
            </a:r>
          </a:p>
          <a:p>
            <a:endParaRPr lang="en-US" dirty="0"/>
          </a:p>
          <a:p>
            <a:r>
              <a:rPr lang="en-US" dirty="0"/>
              <a:t>We use DISTINCT keyword with the SELECT </a:t>
            </a:r>
            <a:r>
              <a:rPr lang="en-US" dirty="0" err="1"/>
              <a:t>statetment</a:t>
            </a:r>
            <a:r>
              <a:rPr lang="en-US" dirty="0"/>
              <a:t> when there is a need to avoid duplicate values present in any specific columns/tables. When we use DISTINCT keyword, SELECT statement returns only the unique records available in the table.</a:t>
            </a:r>
          </a:p>
          <a:p>
            <a:endParaRPr lang="en-US" dirty="0"/>
          </a:p>
          <a:p>
            <a:r>
              <a:rPr lang="en-US" dirty="0"/>
              <a:t>The SQL DISTINCT Keyword can be associated with SELECT statement to fetch unique records from single or multiple columns/tables.</a:t>
            </a:r>
          </a:p>
          <a:p>
            <a:r>
              <a:rPr lang="en-US" dirty="0"/>
              <a:t>Syntax</a:t>
            </a:r>
          </a:p>
          <a:p>
            <a:r>
              <a:rPr lang="en-US" dirty="0"/>
              <a:t>The basic syntax of SQL DISTINCT keyword is as follows −</a:t>
            </a:r>
          </a:p>
          <a:p>
            <a:endParaRPr lang="en-US" dirty="0"/>
          </a:p>
          <a:p>
            <a:r>
              <a:rPr lang="en-US" b="0" i="0" dirty="0">
                <a:solidFill>
                  <a:srgbClr val="0070C0"/>
                </a:solidFill>
                <a:effectLst/>
                <a:latin typeface="Courier New" panose="02070309020205020404" pitchFamily="49" charset="0"/>
              </a:rPr>
              <a:t>SELECT DISTINCT column1, column2,.....</a:t>
            </a:r>
            <a:r>
              <a:rPr lang="en-US" b="0" i="0" dirty="0" err="1">
                <a:solidFill>
                  <a:srgbClr val="0070C0"/>
                </a:solidFill>
                <a:effectLst/>
                <a:latin typeface="Courier New" panose="02070309020205020404" pitchFamily="49" charset="0"/>
              </a:rPr>
              <a:t>columnN</a:t>
            </a:r>
            <a:r>
              <a:rPr lang="en-US" b="0" i="0" dirty="0">
                <a:solidFill>
                  <a:srgbClr val="0070C0"/>
                </a:solidFill>
                <a:effectLst/>
                <a:latin typeface="Courier New" panose="02070309020205020404" pitchFamily="49" charset="0"/>
              </a:rPr>
              <a:t> FROM </a:t>
            </a:r>
            <a:r>
              <a:rPr lang="en-US" b="0" i="0" dirty="0" err="1">
                <a:solidFill>
                  <a:srgbClr val="0070C0"/>
                </a:solidFill>
                <a:effectLst/>
                <a:latin typeface="Courier New" panose="02070309020205020404" pitchFamily="49" charset="0"/>
              </a:rPr>
              <a:t>table_name</a:t>
            </a:r>
            <a:r>
              <a:rPr lang="en-US" b="0" i="0" dirty="0">
                <a:solidFill>
                  <a:srgbClr val="0070C0"/>
                </a:solidFill>
                <a:effectLst/>
                <a:latin typeface="Courier New" panose="02070309020205020404" pitchFamily="49" charset="0"/>
              </a:rPr>
              <a:t>;</a:t>
            </a:r>
            <a:endParaRPr lang="en-US" dirty="0">
              <a:solidFill>
                <a:srgbClr val="0070C0"/>
              </a:solidFill>
            </a:endParaRPr>
          </a:p>
        </p:txBody>
      </p:sp>
    </p:spTree>
    <p:extLst>
      <p:ext uri="{BB962C8B-B14F-4D97-AF65-F5344CB8AC3E}">
        <p14:creationId xmlns:p14="http://schemas.microsoft.com/office/powerpoint/2010/main" val="3945948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9ED6CD8-D08C-42CA-E4C7-B3103929BA78}"/>
              </a:ext>
            </a:extLst>
          </p:cNvPr>
          <p:cNvSpPr txBox="1"/>
          <p:nvPr/>
        </p:nvSpPr>
        <p:spPr>
          <a:xfrm>
            <a:off x="188752" y="752143"/>
            <a:ext cx="12066165" cy="5078313"/>
          </a:xfrm>
          <a:prstGeom prst="rect">
            <a:avLst/>
          </a:prstGeom>
          <a:noFill/>
        </p:spPr>
        <p:txBody>
          <a:bodyPr wrap="square">
            <a:spAutoFit/>
          </a:bodyPr>
          <a:lstStyle/>
          <a:p>
            <a:r>
              <a:rPr lang="en-US" dirty="0"/>
              <a:t>The SQL ORDER BY Clause</a:t>
            </a:r>
          </a:p>
          <a:p>
            <a:endParaRPr lang="en-US" dirty="0"/>
          </a:p>
          <a:p>
            <a:r>
              <a:rPr lang="en-US" dirty="0"/>
              <a:t>The SQL ORDER BY clause is used to sort the data in either ascending or descending order, based on one or more columns. This clause can sort data by a single column or by multiple columns. Sorting by multiple columns can be helpful when you need to sort data hierarchically, such as sorting by state, city, and then by the person's name.</a:t>
            </a:r>
          </a:p>
          <a:p>
            <a:endParaRPr lang="en-US" dirty="0"/>
          </a:p>
          <a:p>
            <a:r>
              <a:rPr lang="en-US" dirty="0"/>
              <a:t>ORDER BY is used with the SQL SELECT statement and is usually specified after the WHERE, HAVING, and GROUP BY clauses.</a:t>
            </a:r>
          </a:p>
          <a:p>
            <a:endParaRPr lang="en-US" dirty="0"/>
          </a:p>
          <a:p>
            <a:r>
              <a:rPr lang="en-US" dirty="0"/>
              <a:t>Following are the important points about ORDER BY Clause −</a:t>
            </a:r>
          </a:p>
          <a:p>
            <a:endParaRPr lang="en-US" dirty="0"/>
          </a:p>
          <a:p>
            <a:r>
              <a:rPr lang="en-US" dirty="0"/>
              <a:t>Some databases sort the query results in an ascending order by default.</a:t>
            </a:r>
          </a:p>
          <a:p>
            <a:r>
              <a:rPr lang="en-US" dirty="0"/>
              <a:t>To sort the data in ascending order, we use the keyword ASC.</a:t>
            </a:r>
          </a:p>
          <a:p>
            <a:r>
              <a:rPr lang="en-US" dirty="0"/>
              <a:t>To sort the data in descending order, we use the keyword DESC.</a:t>
            </a:r>
          </a:p>
          <a:p>
            <a:endParaRPr lang="en-US" dirty="0"/>
          </a:p>
          <a:p>
            <a:r>
              <a:rPr lang="en-US" dirty="0">
                <a:solidFill>
                  <a:srgbClr val="FF0000"/>
                </a:solidFill>
              </a:rPr>
              <a:t>In addition to sorting records in ascending order or descending order, the ORDER BY clause can also sort the data in a database table in a preferred order.</a:t>
            </a:r>
          </a:p>
          <a:p>
            <a:endParaRPr lang="en-US" dirty="0"/>
          </a:p>
        </p:txBody>
      </p:sp>
    </p:spTree>
    <p:extLst>
      <p:ext uri="{BB962C8B-B14F-4D97-AF65-F5344CB8AC3E}">
        <p14:creationId xmlns:p14="http://schemas.microsoft.com/office/powerpoint/2010/main" val="40604402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5EDE1D4-FF76-33C8-D430-BE31DB7CFE8B}"/>
              </a:ext>
            </a:extLst>
          </p:cNvPr>
          <p:cNvSpPr txBox="1"/>
          <p:nvPr/>
        </p:nvSpPr>
        <p:spPr>
          <a:xfrm>
            <a:off x="176169" y="347143"/>
            <a:ext cx="11585196" cy="3693319"/>
          </a:xfrm>
          <a:prstGeom prst="rect">
            <a:avLst/>
          </a:prstGeom>
          <a:noFill/>
        </p:spPr>
        <p:txBody>
          <a:bodyPr wrap="square">
            <a:spAutoFit/>
          </a:bodyPr>
          <a:lstStyle/>
          <a:p>
            <a:r>
              <a:rPr lang="en-US" dirty="0"/>
              <a:t>This preferred order may not sort the records of a table in any standard order (like alphabetical or lexicographical), but they could be sorted based on external condition(s).</a:t>
            </a:r>
          </a:p>
          <a:p>
            <a:endParaRPr lang="en-US" dirty="0"/>
          </a:p>
          <a:p>
            <a:r>
              <a:rPr lang="en-US" dirty="0"/>
              <a:t>For instance, in the CUSTOMERS table containing the details of the customers of an organization, the records can be sorted based on the population of the cities they are from. This need not be alphabetically sorted, instead, we need to define the order manually using the CASE statement.</a:t>
            </a:r>
          </a:p>
          <a:p>
            <a:endParaRPr lang="en-US" dirty="0"/>
          </a:p>
          <a:p>
            <a:r>
              <a:rPr lang="en-US" dirty="0"/>
              <a:t>Syntax</a:t>
            </a:r>
          </a:p>
          <a:p>
            <a:r>
              <a:rPr lang="en-US" dirty="0"/>
              <a:t>The basic syntax of the ORDER BY clause is as follows −</a:t>
            </a:r>
          </a:p>
          <a:p>
            <a:endParaRPr lang="en-US" dirty="0"/>
          </a:p>
          <a:p>
            <a:r>
              <a:rPr lang="en-US" dirty="0"/>
              <a:t>SELECT column-list</a:t>
            </a:r>
          </a:p>
          <a:p>
            <a:r>
              <a:rPr lang="en-US" dirty="0"/>
              <a:t>FROM </a:t>
            </a:r>
            <a:r>
              <a:rPr lang="en-US" dirty="0" err="1"/>
              <a:t>table_name</a:t>
            </a:r>
            <a:endParaRPr lang="en-US" dirty="0"/>
          </a:p>
          <a:p>
            <a:r>
              <a:rPr lang="en-US" dirty="0"/>
              <a:t>[ORDER BY column1, column2, .. </a:t>
            </a:r>
            <a:r>
              <a:rPr lang="en-US" dirty="0" err="1"/>
              <a:t>columnN</a:t>
            </a:r>
            <a:r>
              <a:rPr lang="en-US" dirty="0"/>
              <a:t>] [ASC | DESC];</a:t>
            </a:r>
          </a:p>
        </p:txBody>
      </p:sp>
    </p:spTree>
    <p:extLst>
      <p:ext uri="{BB962C8B-B14F-4D97-AF65-F5344CB8AC3E}">
        <p14:creationId xmlns:p14="http://schemas.microsoft.com/office/powerpoint/2010/main" val="39019661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9C4A2C6-FF3F-F386-3C4E-CD101985C51B}"/>
              </a:ext>
            </a:extLst>
          </p:cNvPr>
          <p:cNvSpPr txBox="1"/>
          <p:nvPr/>
        </p:nvSpPr>
        <p:spPr>
          <a:xfrm>
            <a:off x="436229" y="249615"/>
            <a:ext cx="10291194" cy="5909310"/>
          </a:xfrm>
          <a:prstGeom prst="rect">
            <a:avLst/>
          </a:prstGeom>
          <a:noFill/>
        </p:spPr>
        <p:txBody>
          <a:bodyPr wrap="square">
            <a:spAutoFit/>
          </a:bodyPr>
          <a:lstStyle/>
          <a:p>
            <a:r>
              <a:rPr lang="en-US" dirty="0"/>
              <a:t>The SQL GROUP BY Clause</a:t>
            </a:r>
          </a:p>
          <a:p>
            <a:endParaRPr lang="en-US" dirty="0"/>
          </a:p>
          <a:p>
            <a:r>
              <a:rPr lang="en-US" dirty="0"/>
              <a:t>The SQL GROUP BY clause is used in conjunction with the SELECT statement to arrange identical data into groups. This clause follows the WHERE clause in a SELECT statement and precedes the ORDER BY and HAVING clauses (if they exist).</a:t>
            </a:r>
          </a:p>
          <a:p>
            <a:endParaRPr lang="en-US" dirty="0"/>
          </a:p>
          <a:p>
            <a:r>
              <a:rPr lang="en-US" dirty="0"/>
              <a:t>The main purpose of grouping the records of a table based on particular columns is to perform calculations on these groups. Therefore, The GROUP BY clause is typically used with aggregate functions such as SUM(), COUNT(), AVG(), MAX(), or MIN() etc.</a:t>
            </a:r>
          </a:p>
          <a:p>
            <a:endParaRPr lang="en-US" dirty="0"/>
          </a:p>
          <a:p>
            <a:r>
              <a:rPr lang="en-US" dirty="0"/>
              <a:t>For example, if you have a table named SALES_DATA containing the sales data with the columns YEAR, PRODUCT, and SALES. To calculate the total sales in an year, the GROUP BY clause can be used to group the records in this table based on the year and calculate the sum of sales in each group using the SUM() function.</a:t>
            </a:r>
          </a:p>
          <a:p>
            <a:endParaRPr lang="en-US" dirty="0"/>
          </a:p>
          <a:p>
            <a:r>
              <a:rPr lang="en-US" dirty="0"/>
              <a:t>Syntax</a:t>
            </a:r>
          </a:p>
          <a:p>
            <a:r>
              <a:rPr lang="en-US" dirty="0"/>
              <a:t>Following is the basic syntax of the SQL GROUP BY clause −</a:t>
            </a:r>
          </a:p>
          <a:p>
            <a:endParaRPr lang="en-US" dirty="0"/>
          </a:p>
          <a:p>
            <a:r>
              <a:rPr lang="en-US" dirty="0"/>
              <a:t>SELECT </a:t>
            </a:r>
            <a:r>
              <a:rPr lang="en-US" dirty="0" err="1"/>
              <a:t>column_name</a:t>
            </a:r>
            <a:r>
              <a:rPr lang="en-US" dirty="0"/>
              <a:t>(s)</a:t>
            </a:r>
          </a:p>
          <a:p>
            <a:r>
              <a:rPr lang="en-US" dirty="0"/>
              <a:t>FROM </a:t>
            </a:r>
            <a:r>
              <a:rPr lang="en-US" dirty="0" err="1"/>
              <a:t>table_name</a:t>
            </a:r>
            <a:endParaRPr lang="en-US" dirty="0"/>
          </a:p>
          <a:p>
            <a:r>
              <a:rPr lang="en-US" dirty="0"/>
              <a:t>GROUP BY </a:t>
            </a:r>
            <a:r>
              <a:rPr lang="en-US" dirty="0" err="1"/>
              <a:t>column_name</a:t>
            </a:r>
            <a:r>
              <a:rPr lang="en-US" dirty="0"/>
              <a:t>(s);</a:t>
            </a:r>
          </a:p>
        </p:txBody>
      </p:sp>
    </p:spTree>
    <p:extLst>
      <p:ext uri="{BB962C8B-B14F-4D97-AF65-F5344CB8AC3E}">
        <p14:creationId xmlns:p14="http://schemas.microsoft.com/office/powerpoint/2010/main" val="15812671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265822D-81C3-5432-6C3C-FBA7FA9F90F5}"/>
              </a:ext>
            </a:extLst>
          </p:cNvPr>
          <p:cNvSpPr txBox="1"/>
          <p:nvPr/>
        </p:nvSpPr>
        <p:spPr>
          <a:xfrm>
            <a:off x="352337" y="820877"/>
            <a:ext cx="11107024" cy="4801314"/>
          </a:xfrm>
          <a:prstGeom prst="rect">
            <a:avLst/>
          </a:prstGeom>
          <a:noFill/>
        </p:spPr>
        <p:txBody>
          <a:bodyPr wrap="square">
            <a:spAutoFit/>
          </a:bodyPr>
          <a:lstStyle/>
          <a:p>
            <a:r>
              <a:rPr lang="en-US" dirty="0"/>
              <a:t>The SQL HAVING Clause</a:t>
            </a:r>
          </a:p>
          <a:p>
            <a:endParaRPr lang="en-US" dirty="0"/>
          </a:p>
          <a:p>
            <a:r>
              <a:rPr lang="en-US" dirty="0"/>
              <a:t>The SQL HAVING clause is similar to the WHERE clause; both are used to filter rows in a table based on specified criteria. However, the HAVING clause is used to filter grouped rows instead of single rows. These rows are grouped together by the GROUP BY clause, so, the HAVING clause must always be followed by the GROUP BY clause.</a:t>
            </a:r>
          </a:p>
          <a:p>
            <a:endParaRPr lang="en-US" dirty="0"/>
          </a:p>
          <a:p>
            <a:r>
              <a:rPr lang="en-US" dirty="0"/>
              <a:t>Moreover, the HAVING clause can be used with aggregate functions such as COUNT(), SUM(), AVG(), etc., whereas the WHERE clause cannot be used with them.</a:t>
            </a:r>
          </a:p>
          <a:p>
            <a:endParaRPr lang="en-US" dirty="0"/>
          </a:p>
          <a:p>
            <a:r>
              <a:rPr lang="en-US" dirty="0"/>
              <a:t>Syntax</a:t>
            </a:r>
          </a:p>
          <a:p>
            <a:r>
              <a:rPr lang="en-US" dirty="0"/>
              <a:t>Following is the basic syntax of the SQL HAVING clause −</a:t>
            </a:r>
          </a:p>
          <a:p>
            <a:endParaRPr lang="en-US" dirty="0"/>
          </a:p>
          <a:p>
            <a:r>
              <a:rPr lang="en-US" dirty="0"/>
              <a:t>SELECT column1, column2, </a:t>
            </a:r>
            <a:r>
              <a:rPr lang="en-US" dirty="0" err="1"/>
              <a:t>aggregate_function</a:t>
            </a:r>
            <a:r>
              <a:rPr lang="en-US" dirty="0"/>
              <a:t>(column)</a:t>
            </a:r>
          </a:p>
          <a:p>
            <a:r>
              <a:rPr lang="en-US" dirty="0"/>
              <a:t>FROM </a:t>
            </a:r>
            <a:r>
              <a:rPr lang="en-US" dirty="0" err="1"/>
              <a:t>table_name</a:t>
            </a:r>
            <a:endParaRPr lang="en-US" dirty="0"/>
          </a:p>
          <a:p>
            <a:r>
              <a:rPr lang="en-US" dirty="0"/>
              <a:t>GROUP BY column1, column2</a:t>
            </a:r>
          </a:p>
          <a:p>
            <a:r>
              <a:rPr lang="en-US" dirty="0"/>
              <a:t>HAVING condition;</a:t>
            </a:r>
          </a:p>
          <a:p>
            <a:endParaRPr lang="en-US" dirty="0"/>
          </a:p>
        </p:txBody>
      </p:sp>
    </p:spTree>
    <p:extLst>
      <p:ext uri="{BB962C8B-B14F-4D97-AF65-F5344CB8AC3E}">
        <p14:creationId xmlns:p14="http://schemas.microsoft.com/office/powerpoint/2010/main" val="28379173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32D37A-FFB6-8276-3CFE-9FFFA2885F0A}"/>
              </a:ext>
            </a:extLst>
          </p:cNvPr>
          <p:cNvSpPr txBox="1"/>
          <p:nvPr/>
        </p:nvSpPr>
        <p:spPr>
          <a:xfrm>
            <a:off x="202734" y="514436"/>
            <a:ext cx="11786532" cy="4247317"/>
          </a:xfrm>
          <a:prstGeom prst="rect">
            <a:avLst/>
          </a:prstGeom>
          <a:noFill/>
        </p:spPr>
        <p:txBody>
          <a:bodyPr wrap="square">
            <a:spAutoFit/>
          </a:bodyPr>
          <a:lstStyle/>
          <a:p>
            <a:r>
              <a:rPr lang="en-US" dirty="0"/>
              <a:t>Operators are reserved words primarily used in SQL to perform various operations on data, like addition (+), subtraction (-), or comparison (==).</a:t>
            </a:r>
          </a:p>
          <a:p>
            <a:endParaRPr lang="en-US" dirty="0"/>
          </a:p>
          <a:p>
            <a:r>
              <a:rPr lang="en-US" dirty="0"/>
              <a:t>Conjunctive operators, specifically used in </a:t>
            </a:r>
            <a:r>
              <a:rPr lang="en-US" dirty="0" err="1"/>
              <a:t>boolean</a:t>
            </a:r>
            <a:r>
              <a:rPr lang="en-US" dirty="0"/>
              <a:t> logic, combines two conditions in an SQL statement. The most common conjunctive operators are: AND (&amp;&amp;), which returns true if both conditions are true, and OR (||), which returns true if at least one condition is true.</a:t>
            </a:r>
          </a:p>
          <a:p>
            <a:endParaRPr lang="en-US" dirty="0"/>
          </a:p>
          <a:p>
            <a:r>
              <a:rPr lang="en-US" dirty="0">
                <a:solidFill>
                  <a:srgbClr val="FF0000"/>
                </a:solidFill>
              </a:rPr>
              <a:t>The SQL AND Operator</a:t>
            </a:r>
          </a:p>
          <a:p>
            <a:r>
              <a:rPr lang="en-US" dirty="0"/>
              <a:t>The SQL AND returns true or 1, if both its operands evaluates to true. We can use it to combine two conditions in the WHERE clause of an SQL statement.</a:t>
            </a:r>
          </a:p>
          <a:p>
            <a:endParaRPr lang="en-US" dirty="0"/>
          </a:p>
          <a:p>
            <a:r>
              <a:rPr lang="en-US" dirty="0"/>
              <a:t>Syntax</a:t>
            </a:r>
          </a:p>
          <a:p>
            <a:r>
              <a:rPr lang="en-US" dirty="0"/>
              <a:t>The basic syntax of the SQL AND operator with a WHERE clause is as follows −</a:t>
            </a:r>
          </a:p>
          <a:p>
            <a:endParaRPr lang="en-US" dirty="0"/>
          </a:p>
          <a:p>
            <a:r>
              <a:rPr lang="en-US" dirty="0"/>
              <a:t>WHERE [condition1] AND [condition2];</a:t>
            </a:r>
          </a:p>
        </p:txBody>
      </p:sp>
    </p:spTree>
    <p:extLst>
      <p:ext uri="{BB962C8B-B14F-4D97-AF65-F5344CB8AC3E}">
        <p14:creationId xmlns:p14="http://schemas.microsoft.com/office/powerpoint/2010/main" val="28017694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9842174-B6A1-B109-A071-2282BC8E417A}"/>
              </a:ext>
            </a:extLst>
          </p:cNvPr>
          <p:cNvSpPr txBox="1"/>
          <p:nvPr/>
        </p:nvSpPr>
        <p:spPr>
          <a:xfrm>
            <a:off x="167780" y="753441"/>
            <a:ext cx="11727809" cy="3970318"/>
          </a:xfrm>
          <a:prstGeom prst="rect">
            <a:avLst/>
          </a:prstGeom>
          <a:noFill/>
        </p:spPr>
        <p:txBody>
          <a:bodyPr wrap="square">
            <a:spAutoFit/>
          </a:bodyPr>
          <a:lstStyle/>
          <a:p>
            <a:r>
              <a:rPr lang="en-US" dirty="0"/>
              <a:t>The SQL OR Operator</a:t>
            </a:r>
          </a:p>
          <a:p>
            <a:endParaRPr lang="en-US" dirty="0"/>
          </a:p>
          <a:p>
            <a:r>
              <a:rPr lang="en-US" dirty="0"/>
              <a:t>The OR operator returns true if at least one its operands evaluates to true, and false otherwise. We can combine two conditions in an SQL statement's WHERE clause using the OR operator.</a:t>
            </a:r>
          </a:p>
          <a:p>
            <a:endParaRPr lang="en-US" dirty="0"/>
          </a:p>
          <a:p>
            <a:r>
              <a:rPr lang="en-US" dirty="0"/>
              <a:t>Syntax</a:t>
            </a:r>
          </a:p>
          <a:p>
            <a:r>
              <a:rPr lang="en-US" dirty="0"/>
              <a:t>The basic syntax of the OR operator with a WHERE clause is as follows −</a:t>
            </a:r>
          </a:p>
          <a:p>
            <a:endParaRPr lang="en-US" dirty="0"/>
          </a:p>
          <a:p>
            <a:r>
              <a:rPr lang="en-US" dirty="0"/>
              <a:t>WHERE [condition1] OR [condition2];</a:t>
            </a:r>
          </a:p>
          <a:p>
            <a:r>
              <a:rPr lang="en-US" dirty="0"/>
              <a:t>Where, condition1, condition2 are the conditions we want to apply to the query. Each condition is separated by the OR operator.</a:t>
            </a:r>
          </a:p>
          <a:p>
            <a:endParaRPr lang="en-US" dirty="0"/>
          </a:p>
          <a:p>
            <a:r>
              <a:rPr lang="en-US" dirty="0"/>
              <a:t>You can combine N number of conditions using the OR operator. For an action to be taken by the SQL statement, whether it be a transaction or query, at least of the conditions separated by the OR operator must be TRUE.</a:t>
            </a:r>
          </a:p>
        </p:txBody>
      </p:sp>
    </p:spTree>
    <p:extLst>
      <p:ext uri="{BB962C8B-B14F-4D97-AF65-F5344CB8AC3E}">
        <p14:creationId xmlns:p14="http://schemas.microsoft.com/office/powerpoint/2010/main" val="21150502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55BCE0D-13CE-1FCD-DC19-A09F83A08F74}"/>
              </a:ext>
            </a:extLst>
          </p:cNvPr>
          <p:cNvSpPr txBox="1"/>
          <p:nvPr/>
        </p:nvSpPr>
        <p:spPr>
          <a:xfrm>
            <a:off x="201336" y="199443"/>
            <a:ext cx="11711031" cy="5909310"/>
          </a:xfrm>
          <a:prstGeom prst="rect">
            <a:avLst/>
          </a:prstGeom>
          <a:noFill/>
        </p:spPr>
        <p:txBody>
          <a:bodyPr wrap="square">
            <a:spAutoFit/>
          </a:bodyPr>
          <a:lstStyle/>
          <a:p>
            <a:r>
              <a:rPr lang="en-US" dirty="0"/>
              <a:t>The SQL LIKE Operator</a:t>
            </a:r>
          </a:p>
          <a:p>
            <a:endParaRPr lang="en-US" dirty="0"/>
          </a:p>
          <a:p>
            <a:r>
              <a:rPr lang="en-US" dirty="0"/>
              <a:t>The SQL LIKE operator is used to retrieve the data in a column of a table, based on a specified pattern.</a:t>
            </a:r>
          </a:p>
          <a:p>
            <a:endParaRPr lang="en-US" dirty="0"/>
          </a:p>
          <a:p>
            <a:r>
              <a:rPr lang="en-US" dirty="0"/>
              <a:t>It is used along with the WHERE clause of the UPDATE, DELETE and SELECT statements, to filter the rows based on the given pattern. These patterns are specified using Wildcards.</a:t>
            </a:r>
          </a:p>
          <a:p>
            <a:endParaRPr lang="en-US" dirty="0"/>
          </a:p>
          <a:p>
            <a:r>
              <a:rPr lang="en-US" dirty="0"/>
              <a:t>Suppose we need to submit the list of all the students whose name starts with 'K'. We can obtain this with the help of the LIKE operator as follows −</a:t>
            </a:r>
          </a:p>
          <a:p>
            <a:endParaRPr lang="en-US" dirty="0"/>
          </a:p>
          <a:p>
            <a:r>
              <a:rPr lang="en-US" dirty="0"/>
              <a:t>WHERE </a:t>
            </a:r>
            <a:r>
              <a:rPr lang="en-US" dirty="0" err="1"/>
              <a:t>student_name</a:t>
            </a:r>
            <a:r>
              <a:rPr lang="en-US" dirty="0"/>
              <a:t> LIKE 'K%';</a:t>
            </a:r>
          </a:p>
          <a:p>
            <a:r>
              <a:rPr lang="en-US" dirty="0"/>
              <a:t>Here, the % is a wild card which represents zero, one or multiple characters. And the expression K% specifies that it will display the list of all the students whose name starts with 'k'.</a:t>
            </a:r>
          </a:p>
          <a:p>
            <a:endParaRPr lang="en-US" dirty="0"/>
          </a:p>
          <a:p>
            <a:r>
              <a:rPr lang="en-US" dirty="0"/>
              <a:t>The LIKE operator can be used with strings, numbers, or date values. However, using the string values is recommended.</a:t>
            </a:r>
          </a:p>
          <a:p>
            <a:r>
              <a:rPr lang="en-US" dirty="0"/>
              <a:t>Syntax</a:t>
            </a:r>
          </a:p>
          <a:p>
            <a:r>
              <a:rPr lang="en-US" dirty="0"/>
              <a:t>The basic syntax of the SQL LIKE operator is as follows −</a:t>
            </a:r>
          </a:p>
          <a:p>
            <a:endParaRPr lang="en-US" dirty="0"/>
          </a:p>
          <a:p>
            <a:r>
              <a:rPr lang="en-US" dirty="0"/>
              <a:t>SELECT column1, column2, ...</a:t>
            </a:r>
          </a:p>
          <a:p>
            <a:r>
              <a:rPr lang="en-US" dirty="0"/>
              <a:t>FROM </a:t>
            </a:r>
            <a:r>
              <a:rPr lang="en-US" dirty="0" err="1"/>
              <a:t>table_name</a:t>
            </a:r>
            <a:endParaRPr lang="en-US" dirty="0"/>
          </a:p>
          <a:p>
            <a:r>
              <a:rPr lang="en-US" dirty="0"/>
              <a:t>WHERE </a:t>
            </a:r>
            <a:r>
              <a:rPr lang="en-US" dirty="0" err="1"/>
              <a:t>columnn</a:t>
            </a:r>
            <a:r>
              <a:rPr lang="en-US" dirty="0"/>
              <a:t> LIKE </a:t>
            </a:r>
            <a:r>
              <a:rPr lang="en-US" dirty="0" err="1"/>
              <a:t>specified_pattern</a:t>
            </a:r>
            <a:r>
              <a:rPr lang="en-US" dirty="0"/>
              <a:t>;</a:t>
            </a:r>
          </a:p>
        </p:txBody>
      </p:sp>
    </p:spTree>
    <p:extLst>
      <p:ext uri="{BB962C8B-B14F-4D97-AF65-F5344CB8AC3E}">
        <p14:creationId xmlns:p14="http://schemas.microsoft.com/office/powerpoint/2010/main" val="1857849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16A819-A50A-DCA3-1DF0-A8509C8CCC61}"/>
              </a:ext>
            </a:extLst>
          </p:cNvPr>
          <p:cNvSpPr txBox="1"/>
          <p:nvPr/>
        </p:nvSpPr>
        <p:spPr>
          <a:xfrm>
            <a:off x="58723" y="177740"/>
            <a:ext cx="11836866" cy="6186309"/>
          </a:xfrm>
          <a:prstGeom prst="rect">
            <a:avLst/>
          </a:prstGeom>
          <a:noFill/>
        </p:spPr>
        <p:txBody>
          <a:bodyPr wrap="square">
            <a:spAutoFit/>
          </a:bodyPr>
          <a:lstStyle/>
          <a:p>
            <a:r>
              <a:rPr lang="en-US" dirty="0"/>
              <a:t>The SQL IN Operator</a:t>
            </a:r>
          </a:p>
          <a:p>
            <a:endParaRPr lang="en-US" dirty="0"/>
          </a:p>
          <a:p>
            <a:r>
              <a:rPr lang="en-US" dirty="0"/>
              <a:t>The SQL IN Operator is used to specify multiple values or sub query in the WHERE clause. It returns all rows in which the specified column matches one of the values in the list. The list of values or sub query must be specified in the parenthesis e.g. IN (select query) or IN (Value1, Value2, Value3, ...).</a:t>
            </a:r>
          </a:p>
          <a:p>
            <a:endParaRPr lang="en-US" dirty="0"/>
          </a:p>
          <a:p>
            <a:r>
              <a:rPr lang="en-US" dirty="0"/>
              <a:t>In some scenarios we may use multiple OR statements to include multiple conditions in SELECT, DELETE, UPDATE, or INSERT statements. Alternatively, we can use the IN operator instead of multiples OR statements.</a:t>
            </a:r>
          </a:p>
          <a:p>
            <a:endParaRPr lang="en-US" dirty="0"/>
          </a:p>
          <a:p>
            <a:r>
              <a:rPr lang="en-US" dirty="0"/>
              <a:t>The IN operator can be used with any data type in SQL. It is used to filter data from a database table based on specified values.</a:t>
            </a:r>
          </a:p>
          <a:p>
            <a:endParaRPr lang="en-US" dirty="0"/>
          </a:p>
          <a:p>
            <a:r>
              <a:rPr lang="en-US" dirty="0"/>
              <a:t>The IN operator is useful when you want to select all rows that match one of a specific set of values. While the OR operator is useful when you want to select all rows that match any one of multiple conditions.</a:t>
            </a:r>
          </a:p>
          <a:p>
            <a:r>
              <a:rPr lang="en-US" dirty="0"/>
              <a:t>Syntax</a:t>
            </a:r>
          </a:p>
          <a:p>
            <a:r>
              <a:rPr lang="en-US" dirty="0"/>
              <a:t>The basic syntax of the SQL IN operator to specify multiple values is as follows −</a:t>
            </a:r>
          </a:p>
          <a:p>
            <a:endParaRPr lang="en-US" dirty="0"/>
          </a:p>
          <a:p>
            <a:r>
              <a:rPr lang="en-US" dirty="0"/>
              <a:t>WHERE </a:t>
            </a:r>
            <a:r>
              <a:rPr lang="en-US" dirty="0" err="1"/>
              <a:t>column_name</a:t>
            </a:r>
            <a:r>
              <a:rPr lang="en-US" dirty="0"/>
              <a:t> IN (value1, value2, value3, ...);</a:t>
            </a:r>
          </a:p>
          <a:p>
            <a:r>
              <a:rPr lang="en-US" dirty="0"/>
              <a:t>Where,</a:t>
            </a:r>
          </a:p>
          <a:p>
            <a:endParaRPr lang="en-US" dirty="0"/>
          </a:p>
          <a:p>
            <a:r>
              <a:rPr lang="en-US" dirty="0"/>
              <a:t>value1, value2, value3, ... are the values in the list to be tested against the expression. The IN operator returns TRUE if any of these values is found in the list, and FALSE if it is not.</a:t>
            </a:r>
          </a:p>
        </p:txBody>
      </p:sp>
    </p:spTree>
    <p:extLst>
      <p:ext uri="{BB962C8B-B14F-4D97-AF65-F5344CB8AC3E}">
        <p14:creationId xmlns:p14="http://schemas.microsoft.com/office/powerpoint/2010/main" val="14613704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7567DB4-77A6-16A3-0475-51B7E0F33534}"/>
              </a:ext>
            </a:extLst>
          </p:cNvPr>
          <p:cNvSpPr txBox="1"/>
          <p:nvPr/>
        </p:nvSpPr>
        <p:spPr>
          <a:xfrm>
            <a:off x="704674" y="1307439"/>
            <a:ext cx="10419127" cy="4801314"/>
          </a:xfrm>
          <a:prstGeom prst="rect">
            <a:avLst/>
          </a:prstGeom>
          <a:noFill/>
        </p:spPr>
        <p:txBody>
          <a:bodyPr wrap="square">
            <a:spAutoFit/>
          </a:bodyPr>
          <a:lstStyle/>
          <a:p>
            <a:r>
              <a:rPr lang="en-US" dirty="0"/>
              <a:t>Renaming Table</a:t>
            </a:r>
            <a:br>
              <a:rPr lang="en-US" dirty="0"/>
            </a:br>
            <a:br>
              <a:rPr lang="en-US" dirty="0"/>
            </a:br>
            <a:r>
              <a:rPr lang="en-US" dirty="0"/>
              <a:t>SQL provides two ways to rename an </a:t>
            </a:r>
            <a:r>
              <a:rPr lang="en-US" dirty="0">
                <a:solidFill>
                  <a:srgbClr val="FF0000"/>
                </a:solidFill>
              </a:rPr>
              <a:t>MySQL table</a:t>
            </a:r>
            <a:r>
              <a:rPr lang="en-US" dirty="0"/>
              <a:t>. You can use either SQL RENAME TABLE or ALTER TABLE statement to change a table name in MySQL RDBMS.</a:t>
            </a:r>
          </a:p>
          <a:p>
            <a:endParaRPr lang="en-US" dirty="0"/>
          </a:p>
          <a:p>
            <a:r>
              <a:rPr lang="en-US" dirty="0"/>
              <a:t>The SQL RENAME TABLE Statement</a:t>
            </a:r>
          </a:p>
          <a:p>
            <a:r>
              <a:rPr lang="en-US" dirty="0"/>
              <a:t>You can change a MySQL table name using SQL RENAME TABLE statement.</a:t>
            </a:r>
          </a:p>
          <a:p>
            <a:endParaRPr lang="en-US" dirty="0"/>
          </a:p>
          <a:p>
            <a:r>
              <a:rPr lang="en-US" dirty="0"/>
              <a:t>Syntax</a:t>
            </a:r>
          </a:p>
          <a:p>
            <a:r>
              <a:rPr lang="en-US" dirty="0"/>
              <a:t>Following is the syntax of the SQL RENAME TABLE Statement −</a:t>
            </a:r>
          </a:p>
          <a:p>
            <a:endParaRPr lang="en-US" dirty="0"/>
          </a:p>
          <a:p>
            <a:r>
              <a:rPr lang="en-US" dirty="0"/>
              <a:t>RENAME TABLE </a:t>
            </a:r>
            <a:r>
              <a:rPr lang="en-US" dirty="0" err="1"/>
              <a:t>table_name</a:t>
            </a:r>
            <a:r>
              <a:rPr lang="en-US" dirty="0"/>
              <a:t> TO </a:t>
            </a:r>
            <a:r>
              <a:rPr lang="en-US" dirty="0" err="1"/>
              <a:t>new_table_name</a:t>
            </a:r>
            <a:r>
              <a:rPr lang="en-US" dirty="0"/>
              <a:t>;</a:t>
            </a:r>
          </a:p>
          <a:p>
            <a:endParaRPr lang="en-US" dirty="0"/>
          </a:p>
          <a:p>
            <a:r>
              <a:rPr lang="en-US" dirty="0"/>
              <a:t>Where, </a:t>
            </a:r>
            <a:r>
              <a:rPr lang="en-US" dirty="0" err="1"/>
              <a:t>table_name</a:t>
            </a:r>
            <a:r>
              <a:rPr lang="en-US" dirty="0"/>
              <a:t> is the current name of an existing table and </a:t>
            </a:r>
            <a:r>
              <a:rPr lang="en-US" dirty="0" err="1"/>
              <a:t>new_table_name</a:t>
            </a:r>
            <a:r>
              <a:rPr lang="en-US" dirty="0"/>
              <a:t> is the new name of the table.</a:t>
            </a:r>
            <a:br>
              <a:rPr lang="en-US" dirty="0"/>
            </a:br>
            <a:br>
              <a:rPr lang="en-US" dirty="0"/>
            </a:br>
            <a:r>
              <a:rPr lang="en-US" dirty="0" err="1"/>
              <a:t>Eg</a:t>
            </a:r>
            <a:r>
              <a:rPr lang="en-US" dirty="0"/>
              <a:t>&gt; </a:t>
            </a:r>
            <a:r>
              <a:rPr lang="en-US" b="0" i="0" dirty="0">
                <a:solidFill>
                  <a:srgbClr val="FF0000"/>
                </a:solidFill>
                <a:effectLst/>
                <a:latin typeface="Courier New" panose="02070309020205020404" pitchFamily="49" charset="0"/>
              </a:rPr>
              <a:t>RENAME TABLE CUSTOMERS to BUYERS;</a:t>
            </a:r>
            <a:endParaRPr lang="en-US" dirty="0">
              <a:solidFill>
                <a:srgbClr val="FF0000"/>
              </a:solidFill>
            </a:endParaRPr>
          </a:p>
        </p:txBody>
      </p:sp>
    </p:spTree>
    <p:extLst>
      <p:ext uri="{BB962C8B-B14F-4D97-AF65-F5344CB8AC3E}">
        <p14:creationId xmlns:p14="http://schemas.microsoft.com/office/powerpoint/2010/main" val="19002688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430518-7DED-EFF4-834E-5C2F5F90CB99}"/>
              </a:ext>
            </a:extLst>
          </p:cNvPr>
          <p:cNvSpPr txBox="1"/>
          <p:nvPr/>
        </p:nvSpPr>
        <p:spPr>
          <a:xfrm>
            <a:off x="184558" y="438287"/>
            <a:ext cx="11107024" cy="5632311"/>
          </a:xfrm>
          <a:prstGeom prst="rect">
            <a:avLst/>
          </a:prstGeom>
          <a:noFill/>
        </p:spPr>
        <p:txBody>
          <a:bodyPr wrap="square">
            <a:spAutoFit/>
          </a:bodyPr>
          <a:lstStyle/>
          <a:p>
            <a:r>
              <a:rPr lang="en-US" dirty="0"/>
              <a:t>SQL - TRUNCATE TABLE</a:t>
            </a:r>
          </a:p>
          <a:p>
            <a:r>
              <a:rPr lang="en-US" dirty="0"/>
              <a:t>toggle</a:t>
            </a:r>
          </a:p>
          <a:p>
            <a:endParaRPr lang="en-US" dirty="0"/>
          </a:p>
          <a:p>
            <a:r>
              <a:rPr lang="en-US" dirty="0"/>
              <a:t>SQL provides command to TRUNCATE a table completely in one go instead of deleting table records one by one which will be very time consuming and cumbersome process.</a:t>
            </a:r>
          </a:p>
          <a:p>
            <a:endParaRPr lang="en-US" dirty="0"/>
          </a:p>
          <a:p>
            <a:r>
              <a:rPr lang="en-US" dirty="0"/>
              <a:t>The SQL TRUNCATE TABLE Statement</a:t>
            </a:r>
          </a:p>
          <a:p>
            <a:r>
              <a:rPr lang="en-US" dirty="0">
                <a:solidFill>
                  <a:srgbClr val="FF0000"/>
                </a:solidFill>
              </a:rPr>
              <a:t>The SQL TRUNCATE TABLE command is used to empty a table</a:t>
            </a:r>
            <a:r>
              <a:rPr lang="en-US" dirty="0"/>
              <a:t>. This command is a sequence of DROP TABLE and CREATE TABLE statements and requires the DROP privilege.</a:t>
            </a:r>
          </a:p>
          <a:p>
            <a:endParaRPr lang="en-US" dirty="0"/>
          </a:p>
          <a:p>
            <a:r>
              <a:rPr lang="en-US" dirty="0"/>
              <a:t>You can also use DROP TABLE command to delete a table but it will remove the complete table structure from the database and you would need to re-create this table once again if you wish you store some data again.</a:t>
            </a:r>
          </a:p>
          <a:p>
            <a:endParaRPr lang="en-US" dirty="0"/>
          </a:p>
          <a:p>
            <a:r>
              <a:rPr lang="en-US" dirty="0"/>
              <a:t>Syntax</a:t>
            </a:r>
          </a:p>
          <a:p>
            <a:r>
              <a:rPr lang="en-US" dirty="0"/>
              <a:t>The basic syntax of a TRUNCATE TABLE command is as follows.</a:t>
            </a:r>
          </a:p>
          <a:p>
            <a:endParaRPr lang="en-US" dirty="0"/>
          </a:p>
          <a:p>
            <a:r>
              <a:rPr lang="en-US" dirty="0"/>
              <a:t>TRUNCATE TABLE </a:t>
            </a:r>
            <a:r>
              <a:rPr lang="en-US" dirty="0" err="1"/>
              <a:t>table_name</a:t>
            </a:r>
            <a:r>
              <a:rPr lang="en-US" dirty="0"/>
              <a:t>;</a:t>
            </a:r>
          </a:p>
          <a:p>
            <a:r>
              <a:rPr lang="en-US" dirty="0"/>
              <a:t>Example</a:t>
            </a:r>
          </a:p>
          <a:p>
            <a:r>
              <a:rPr lang="en-US" dirty="0"/>
              <a:t>First let's create a table CUSTOMERS which can store the personal details of customers including their name, age, address and salary </a:t>
            </a:r>
            <a:r>
              <a:rPr lang="en-US" b="0" i="0" dirty="0">
                <a:solidFill>
                  <a:srgbClr val="FF0000"/>
                </a:solidFill>
                <a:effectLst/>
                <a:latin typeface="Courier New" panose="02070309020205020404" pitchFamily="49" charset="0"/>
              </a:rPr>
              <a:t>TRUNCATE TABLE CUSTOMERS;</a:t>
            </a:r>
            <a:endParaRPr lang="en-US" dirty="0">
              <a:solidFill>
                <a:srgbClr val="FF0000"/>
              </a:solidFill>
            </a:endParaRPr>
          </a:p>
        </p:txBody>
      </p:sp>
    </p:spTree>
    <p:extLst>
      <p:ext uri="{BB962C8B-B14F-4D97-AF65-F5344CB8AC3E}">
        <p14:creationId xmlns:p14="http://schemas.microsoft.com/office/powerpoint/2010/main" val="34086301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218AA99-F206-F2A9-C8AB-6DC5A3EFC331}"/>
              </a:ext>
            </a:extLst>
          </p:cNvPr>
          <p:cNvSpPr txBox="1"/>
          <p:nvPr/>
        </p:nvSpPr>
        <p:spPr>
          <a:xfrm>
            <a:off x="282429" y="624141"/>
            <a:ext cx="11627142" cy="5078313"/>
          </a:xfrm>
          <a:prstGeom prst="rect">
            <a:avLst/>
          </a:prstGeom>
          <a:noFill/>
        </p:spPr>
        <p:txBody>
          <a:bodyPr wrap="square">
            <a:spAutoFit/>
          </a:bodyPr>
          <a:lstStyle/>
          <a:p>
            <a:r>
              <a:rPr lang="en-US" dirty="0">
                <a:solidFill>
                  <a:srgbClr val="FF0000"/>
                </a:solidFill>
              </a:rPr>
              <a:t>SQL − ALTER TABLE Statement</a:t>
            </a:r>
          </a:p>
          <a:p>
            <a:endParaRPr lang="en-US" dirty="0"/>
          </a:p>
          <a:p>
            <a:r>
              <a:rPr lang="en-US" dirty="0"/>
              <a:t>The SQL ALTER TABLE command is a part of Data Definition Language (DDL) and modifies the structure of a table. The ALTER TABLE command can add or delete columns, create or destroy indexes, change the type of existing columns, or rename columns or the table itself.</a:t>
            </a:r>
          </a:p>
          <a:p>
            <a:endParaRPr lang="en-US" dirty="0"/>
          </a:p>
          <a:p>
            <a:r>
              <a:rPr lang="en-US" dirty="0"/>
              <a:t>The ALTER TABLE command can also change characteristics of a table such as the storage engine used for the table. We will make use of the following table in our examples</a:t>
            </a:r>
          </a:p>
          <a:p>
            <a:endParaRPr lang="en-US" dirty="0"/>
          </a:p>
          <a:p>
            <a:r>
              <a:rPr lang="en-US" dirty="0">
                <a:solidFill>
                  <a:srgbClr val="FF0000"/>
                </a:solidFill>
              </a:rPr>
              <a:t>ALTER TABLE − ADD Column</a:t>
            </a:r>
          </a:p>
          <a:p>
            <a:r>
              <a:rPr lang="en-US" dirty="0"/>
              <a:t>If you need to add a new column to a table, you should use the ADD COLUMN option along with ALTER TABLE statement as shown below −</a:t>
            </a:r>
          </a:p>
          <a:p>
            <a:endParaRPr lang="en-US" dirty="0"/>
          </a:p>
          <a:p>
            <a:r>
              <a:rPr lang="en-US" dirty="0"/>
              <a:t>ALTER TABLE </a:t>
            </a:r>
            <a:r>
              <a:rPr lang="en-US" dirty="0" err="1"/>
              <a:t>table_name</a:t>
            </a:r>
            <a:r>
              <a:rPr lang="en-US" dirty="0"/>
              <a:t> ADD </a:t>
            </a:r>
            <a:r>
              <a:rPr lang="en-US" dirty="0" err="1"/>
              <a:t>column_name</a:t>
            </a:r>
            <a:r>
              <a:rPr lang="en-US" dirty="0"/>
              <a:t> datatype;</a:t>
            </a:r>
          </a:p>
          <a:p>
            <a:r>
              <a:rPr lang="en-US" dirty="0"/>
              <a:t>Example</a:t>
            </a:r>
          </a:p>
          <a:p>
            <a:r>
              <a:rPr lang="en-US" dirty="0"/>
              <a:t>Following is the example to ADD a New Column to an existing table −</a:t>
            </a:r>
          </a:p>
          <a:p>
            <a:endParaRPr lang="en-US" dirty="0"/>
          </a:p>
          <a:p>
            <a:r>
              <a:rPr lang="en-US" dirty="0"/>
              <a:t>ALTER TABLE CUSTOMERS ADD SEX char(1);</a:t>
            </a:r>
          </a:p>
        </p:txBody>
      </p:sp>
    </p:spTree>
    <p:extLst>
      <p:ext uri="{BB962C8B-B14F-4D97-AF65-F5344CB8AC3E}">
        <p14:creationId xmlns:p14="http://schemas.microsoft.com/office/powerpoint/2010/main" val="41665252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99B6E5D-A5AC-8947-52F0-1346DA915CC9}"/>
              </a:ext>
            </a:extLst>
          </p:cNvPr>
          <p:cNvSpPr txBox="1"/>
          <p:nvPr/>
        </p:nvSpPr>
        <p:spPr>
          <a:xfrm>
            <a:off x="328569" y="649146"/>
            <a:ext cx="11534862" cy="3416320"/>
          </a:xfrm>
          <a:prstGeom prst="rect">
            <a:avLst/>
          </a:prstGeom>
          <a:noFill/>
        </p:spPr>
        <p:txBody>
          <a:bodyPr wrap="square">
            <a:spAutoFit/>
          </a:bodyPr>
          <a:lstStyle/>
          <a:p>
            <a:r>
              <a:rPr lang="en-US" dirty="0"/>
              <a:t>ALTER TABLE − DROP COLUMN</a:t>
            </a:r>
          </a:p>
          <a:p>
            <a:endParaRPr lang="en-US" dirty="0"/>
          </a:p>
          <a:p>
            <a:r>
              <a:rPr lang="en-US" dirty="0"/>
              <a:t>If you need to drop an existing column from a table, you should use the DROP COLUMN option along with ALTER TABLE statement as shown below.</a:t>
            </a:r>
          </a:p>
          <a:p>
            <a:endParaRPr lang="en-US" dirty="0"/>
          </a:p>
          <a:p>
            <a:r>
              <a:rPr lang="en-US" dirty="0"/>
              <a:t>ALTER TABLE </a:t>
            </a:r>
            <a:r>
              <a:rPr lang="en-US" dirty="0" err="1"/>
              <a:t>table_name</a:t>
            </a:r>
            <a:r>
              <a:rPr lang="en-US" dirty="0"/>
              <a:t> DROP COLUMN </a:t>
            </a:r>
            <a:r>
              <a:rPr lang="en-US" dirty="0" err="1"/>
              <a:t>column_name</a:t>
            </a:r>
            <a:r>
              <a:rPr lang="en-US" dirty="0"/>
              <a:t>;</a:t>
            </a:r>
          </a:p>
          <a:p>
            <a:endParaRPr lang="en-US" dirty="0"/>
          </a:p>
          <a:p>
            <a:r>
              <a:rPr lang="en-US" dirty="0"/>
              <a:t>Example</a:t>
            </a:r>
          </a:p>
          <a:p>
            <a:r>
              <a:rPr lang="en-US" dirty="0"/>
              <a:t>Following is the example to DROP sex column from the existing table.</a:t>
            </a:r>
          </a:p>
          <a:p>
            <a:endParaRPr lang="en-US" dirty="0"/>
          </a:p>
          <a:p>
            <a:r>
              <a:rPr lang="en-US" dirty="0"/>
              <a:t>ALTER TABLE CUSTOMERS DROP COLUMN SEX;</a:t>
            </a:r>
          </a:p>
          <a:p>
            <a:r>
              <a:rPr lang="en-US" dirty="0"/>
              <a:t>Output</a:t>
            </a:r>
          </a:p>
        </p:txBody>
      </p:sp>
    </p:spTree>
    <p:extLst>
      <p:ext uri="{BB962C8B-B14F-4D97-AF65-F5344CB8AC3E}">
        <p14:creationId xmlns:p14="http://schemas.microsoft.com/office/powerpoint/2010/main" val="32889020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FE8EAB5-3CE4-3545-0CC5-F7ACD1645D5C}"/>
              </a:ext>
            </a:extLst>
          </p:cNvPr>
          <p:cNvSpPr txBox="1"/>
          <p:nvPr/>
        </p:nvSpPr>
        <p:spPr>
          <a:xfrm>
            <a:off x="159391" y="810541"/>
            <a:ext cx="11635530" cy="5078313"/>
          </a:xfrm>
          <a:prstGeom prst="rect">
            <a:avLst/>
          </a:prstGeom>
          <a:noFill/>
        </p:spPr>
        <p:txBody>
          <a:bodyPr wrap="square">
            <a:spAutoFit/>
          </a:bodyPr>
          <a:lstStyle/>
          <a:p>
            <a:pPr algn="ctr"/>
            <a:r>
              <a:rPr lang="en-US" dirty="0"/>
              <a:t>SQL - DROP Table</a:t>
            </a:r>
          </a:p>
          <a:p>
            <a:endParaRPr lang="en-US" dirty="0"/>
          </a:p>
          <a:p>
            <a:r>
              <a:rPr lang="en-US" dirty="0"/>
              <a:t>SQL provides command to DROP an existing table completely in a database. Once SQL DROP command is issued then there is no way back to recover the table including its data, so be careful before issuing this command in production system.</a:t>
            </a:r>
          </a:p>
          <a:p>
            <a:endParaRPr lang="en-US" dirty="0"/>
          </a:p>
          <a:p>
            <a:r>
              <a:rPr lang="en-US" dirty="0"/>
              <a:t>The SQL DROP Table Statement</a:t>
            </a:r>
          </a:p>
          <a:p>
            <a:r>
              <a:rPr lang="en-US" dirty="0"/>
              <a:t>The SQL DROP TABLE statement is a Data Definition Language (DDL) command that is used to remove a table's definition, and its data, indexes, triggers, constraints and permission specifications (if any).</a:t>
            </a:r>
          </a:p>
          <a:p>
            <a:endParaRPr lang="en-US" dirty="0"/>
          </a:p>
          <a:p>
            <a:r>
              <a:rPr lang="en-US" dirty="0"/>
              <a:t>Note −</a:t>
            </a:r>
          </a:p>
          <a:p>
            <a:endParaRPr lang="en-US" dirty="0"/>
          </a:p>
          <a:p>
            <a:r>
              <a:rPr lang="en-US" dirty="0"/>
              <a:t>You should be very careful while using this command because once a table is deleted then all the information available in that table will also be lost forever.</a:t>
            </a:r>
          </a:p>
          <a:p>
            <a:endParaRPr lang="en-US" dirty="0"/>
          </a:p>
          <a:p>
            <a:r>
              <a:rPr lang="en-US" dirty="0"/>
              <a:t>If the table is partitioned, the statement removes the table definition, all its partitions, all data stored in those partitions, and all partition definitions.</a:t>
            </a:r>
          </a:p>
          <a:p>
            <a:endParaRPr lang="en-US" dirty="0"/>
          </a:p>
        </p:txBody>
      </p:sp>
    </p:spTree>
    <p:extLst>
      <p:ext uri="{BB962C8B-B14F-4D97-AF65-F5344CB8AC3E}">
        <p14:creationId xmlns:p14="http://schemas.microsoft.com/office/powerpoint/2010/main" val="35712448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94D946-9E80-1D7B-DF31-F9664F2644A1}"/>
              </a:ext>
            </a:extLst>
          </p:cNvPr>
          <p:cNvSpPr txBox="1"/>
          <p:nvPr/>
        </p:nvSpPr>
        <p:spPr>
          <a:xfrm>
            <a:off x="461394" y="1030440"/>
            <a:ext cx="11199303" cy="3693319"/>
          </a:xfrm>
          <a:prstGeom prst="rect">
            <a:avLst/>
          </a:prstGeom>
          <a:noFill/>
        </p:spPr>
        <p:txBody>
          <a:bodyPr wrap="square">
            <a:spAutoFit/>
          </a:bodyPr>
          <a:lstStyle/>
          <a:p>
            <a:r>
              <a:rPr lang="en-US" dirty="0"/>
              <a:t>To drop a table in a database, one must require ALTER permission on the said table and CONTROL permissions on the table schema.</a:t>
            </a:r>
          </a:p>
          <a:p>
            <a:endParaRPr lang="en-US" dirty="0"/>
          </a:p>
          <a:p>
            <a:r>
              <a:rPr lang="en-US" dirty="0"/>
              <a:t>Even though it is a data definition language command, it is different from TRUNCATE TABLE statement as the DROP statement completely frees the table from the memory.</a:t>
            </a:r>
          </a:p>
          <a:p>
            <a:endParaRPr lang="en-US" dirty="0"/>
          </a:p>
          <a:p>
            <a:r>
              <a:rPr lang="en-US" dirty="0"/>
              <a:t>DROP TABLE causes an implicit commit, except when used with the TEMPORARY keyword.</a:t>
            </a:r>
          </a:p>
          <a:p>
            <a:endParaRPr lang="en-US" dirty="0"/>
          </a:p>
          <a:p>
            <a:r>
              <a:rPr lang="en-US" dirty="0"/>
              <a:t>Syntax</a:t>
            </a:r>
          </a:p>
          <a:p>
            <a:r>
              <a:rPr lang="en-US" dirty="0"/>
              <a:t>The basic syntax of this DROP TABLE statement is as follows −</a:t>
            </a:r>
          </a:p>
          <a:p>
            <a:endParaRPr lang="en-US" dirty="0"/>
          </a:p>
          <a:p>
            <a:r>
              <a:rPr lang="en-US" dirty="0"/>
              <a:t>DROP TABLE </a:t>
            </a:r>
            <a:r>
              <a:rPr lang="en-US" dirty="0" err="1"/>
              <a:t>table_name</a:t>
            </a:r>
            <a:r>
              <a:rPr lang="en-US" dirty="0"/>
              <a:t>;</a:t>
            </a:r>
          </a:p>
          <a:p>
            <a:r>
              <a:rPr lang="en-US" dirty="0"/>
              <a:t>Example</a:t>
            </a:r>
          </a:p>
        </p:txBody>
      </p:sp>
    </p:spTree>
    <p:extLst>
      <p:ext uri="{BB962C8B-B14F-4D97-AF65-F5344CB8AC3E}">
        <p14:creationId xmlns:p14="http://schemas.microsoft.com/office/powerpoint/2010/main" val="30555759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DA307EF-A1AC-0169-F976-AE17D3BEE1A3}"/>
              </a:ext>
            </a:extLst>
          </p:cNvPr>
          <p:cNvSpPr txBox="1"/>
          <p:nvPr/>
        </p:nvSpPr>
        <p:spPr>
          <a:xfrm>
            <a:off x="201336" y="476442"/>
            <a:ext cx="11157358" cy="5078313"/>
          </a:xfrm>
          <a:prstGeom prst="rect">
            <a:avLst/>
          </a:prstGeom>
          <a:noFill/>
        </p:spPr>
        <p:txBody>
          <a:bodyPr wrap="square">
            <a:spAutoFit/>
          </a:bodyPr>
          <a:lstStyle/>
          <a:p>
            <a:pPr algn="ctr"/>
            <a:r>
              <a:rPr lang="en-US" dirty="0"/>
              <a:t>SQL - Delete Table</a:t>
            </a:r>
          </a:p>
          <a:p>
            <a:endParaRPr lang="en-US" dirty="0"/>
          </a:p>
          <a:p>
            <a:endParaRPr lang="en-US" dirty="0"/>
          </a:p>
          <a:p>
            <a:r>
              <a:rPr lang="en-US" dirty="0"/>
              <a:t>The SQL DELETE is a command of Data Manipulation Language (DML), so it does not delete or modify the table structure but it delete only the data contained within the table. Therefore, any constraints, indexes, or triggers defined in the table will still exist after you delete data from it.</a:t>
            </a:r>
          </a:p>
          <a:p>
            <a:endParaRPr lang="en-US" dirty="0"/>
          </a:p>
          <a:p>
            <a:r>
              <a:rPr lang="en-US" dirty="0"/>
              <a:t>SQL DELETE TABLE Statement</a:t>
            </a:r>
          </a:p>
          <a:p>
            <a:r>
              <a:rPr lang="en-US" dirty="0"/>
              <a:t>The SQL DELETE TABLE statement is used to delete the existing records from a table in a database. If you wish to delete only the specific number of rows from the table, you can use the WHERE clause with the DELETE statement. If you omit the WHERE clause, all rows in the table will be deleted. The SQL DELETE statement operates on a single table at a time.</a:t>
            </a:r>
          </a:p>
          <a:p>
            <a:endParaRPr lang="en-US" dirty="0"/>
          </a:p>
          <a:p>
            <a:r>
              <a:rPr lang="en-US" dirty="0"/>
              <a:t>Syntax</a:t>
            </a:r>
          </a:p>
          <a:p>
            <a:r>
              <a:rPr lang="en-US" dirty="0"/>
              <a:t>Following is the basic syntax for using the SQL DELETE command in SQL −</a:t>
            </a:r>
          </a:p>
          <a:p>
            <a:endParaRPr lang="en-US" dirty="0"/>
          </a:p>
          <a:p>
            <a:r>
              <a:rPr lang="en-US" dirty="0"/>
              <a:t>DELETE FROM </a:t>
            </a:r>
            <a:r>
              <a:rPr lang="en-US" dirty="0" err="1"/>
              <a:t>table_name</a:t>
            </a:r>
            <a:r>
              <a:rPr lang="en-US" dirty="0"/>
              <a:t>;</a:t>
            </a:r>
          </a:p>
          <a:p>
            <a:r>
              <a:rPr lang="en-US" dirty="0"/>
              <a:t>SQL DELETE</a:t>
            </a:r>
          </a:p>
        </p:txBody>
      </p:sp>
    </p:spTree>
    <p:extLst>
      <p:ext uri="{BB962C8B-B14F-4D97-AF65-F5344CB8AC3E}">
        <p14:creationId xmlns:p14="http://schemas.microsoft.com/office/powerpoint/2010/main" val="42094902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CF6D7B-64B5-1D96-F7F1-1DA85F124BAC}"/>
              </a:ext>
            </a:extLst>
          </p:cNvPr>
          <p:cNvSpPr txBox="1"/>
          <p:nvPr/>
        </p:nvSpPr>
        <p:spPr>
          <a:xfrm>
            <a:off x="511727" y="937836"/>
            <a:ext cx="10788243" cy="4801314"/>
          </a:xfrm>
          <a:prstGeom prst="rect">
            <a:avLst/>
          </a:prstGeom>
          <a:noFill/>
        </p:spPr>
        <p:txBody>
          <a:bodyPr wrap="square">
            <a:spAutoFit/>
          </a:bodyPr>
          <a:lstStyle/>
          <a:p>
            <a:pPr algn="ctr"/>
            <a:r>
              <a:rPr lang="en-US" dirty="0">
                <a:solidFill>
                  <a:srgbClr val="FF0000"/>
                </a:solidFill>
              </a:rPr>
              <a:t>The SQL Join Clause</a:t>
            </a:r>
          </a:p>
          <a:p>
            <a:endParaRPr lang="en-US" dirty="0"/>
          </a:p>
          <a:p>
            <a:endParaRPr lang="en-US" dirty="0"/>
          </a:p>
          <a:p>
            <a:r>
              <a:rPr lang="en-US" dirty="0"/>
              <a:t>The SQL Join clause is used to combine data from two or more tables in a database. When the related data is stored across multiple tables, joins help you to retrieve records combining the fields from these tables using their foreign keys.</a:t>
            </a:r>
          </a:p>
          <a:p>
            <a:endParaRPr lang="en-US" dirty="0"/>
          </a:p>
          <a:p>
            <a:r>
              <a:rPr lang="en-US" dirty="0"/>
              <a:t>The part of the Join clause that specifies the columns on which records from two or more tables are joined is known as join-predicate. This predicate is usually specified along with the ON clause and uses various comparison operators such as, &lt;, &gt;, &lt;&gt;, &lt;=, &gt;=, !=, BETWEEN, LIKE, and NOT etc. We can also connect multiple join predicates with logical operators AND, OR, and NOT.</a:t>
            </a:r>
          </a:p>
          <a:p>
            <a:endParaRPr lang="en-US" dirty="0"/>
          </a:p>
          <a:p>
            <a:r>
              <a:rPr lang="en-US" dirty="0"/>
              <a:t>We can use JOINs along with update and delete, SQL queries to update and delete records from across multiple tables. When you retrieve a table using joins, the resultant table displayed is not stored anywhere in the database.</a:t>
            </a:r>
          </a:p>
          <a:p>
            <a:r>
              <a:rPr lang="en-US" dirty="0"/>
              <a:t>Syntax</a:t>
            </a:r>
          </a:p>
          <a:p>
            <a:r>
              <a:rPr lang="en-US" dirty="0"/>
              <a:t>Following is the basic syntax of a the SQL JOIN CLAUSE −</a:t>
            </a:r>
          </a:p>
        </p:txBody>
      </p:sp>
    </p:spTree>
    <p:extLst>
      <p:ext uri="{BB962C8B-B14F-4D97-AF65-F5344CB8AC3E}">
        <p14:creationId xmlns:p14="http://schemas.microsoft.com/office/powerpoint/2010/main" val="19895213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84A50BD-A756-8A8A-CD10-16601F8EAD20}"/>
              </a:ext>
            </a:extLst>
          </p:cNvPr>
          <p:cNvSpPr txBox="1"/>
          <p:nvPr/>
        </p:nvSpPr>
        <p:spPr>
          <a:xfrm>
            <a:off x="211123" y="1040996"/>
            <a:ext cx="11769754" cy="3693319"/>
          </a:xfrm>
          <a:prstGeom prst="rect">
            <a:avLst/>
          </a:prstGeom>
          <a:noFill/>
        </p:spPr>
        <p:txBody>
          <a:bodyPr wrap="square">
            <a:spAutoFit/>
          </a:bodyPr>
          <a:lstStyle/>
          <a:p>
            <a:r>
              <a:rPr lang="en-US" dirty="0"/>
              <a:t>Types of joins in SQL</a:t>
            </a:r>
          </a:p>
          <a:p>
            <a:endParaRPr lang="en-US" dirty="0"/>
          </a:p>
          <a:p>
            <a:r>
              <a:rPr lang="en-US" dirty="0"/>
              <a:t>SQL provides various types of Joins that are categorized based on the way data across multiple tables are joined together. They are listed as follows −</a:t>
            </a:r>
          </a:p>
          <a:p>
            <a:endParaRPr lang="en-US" dirty="0"/>
          </a:p>
          <a:p>
            <a:r>
              <a:rPr lang="en-US" dirty="0"/>
              <a:t>Inner Join</a:t>
            </a:r>
          </a:p>
          <a:p>
            <a:r>
              <a:rPr lang="en-US" dirty="0"/>
              <a:t>An INNER JOIN is the default join which retrieves the intersection of two tables. It compares each row of the first table with each row of the second table. If the pairs of these rows satisfy the join-predicate, they are joined together.</a:t>
            </a:r>
          </a:p>
          <a:p>
            <a:endParaRPr lang="en-US" dirty="0"/>
          </a:p>
          <a:p>
            <a:r>
              <a:rPr lang="en-US" dirty="0"/>
              <a:t>Outer Join</a:t>
            </a:r>
          </a:p>
          <a:p>
            <a:r>
              <a:rPr lang="en-US" dirty="0"/>
              <a:t>An Outer Join retrieves all the records in two tables even if there is no counterpart row of one table in another table, unlike Inner Join. Outer join is further divided into three subtypes - Left Join, Right Join and Full Join.</a:t>
            </a:r>
          </a:p>
          <a:p>
            <a:endParaRPr lang="en-US" dirty="0"/>
          </a:p>
        </p:txBody>
      </p:sp>
    </p:spTree>
    <p:extLst>
      <p:ext uri="{BB962C8B-B14F-4D97-AF65-F5344CB8AC3E}">
        <p14:creationId xmlns:p14="http://schemas.microsoft.com/office/powerpoint/2010/main" val="19634085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D33E2C-5217-6650-BD49-A5D97EAC84C2}"/>
              </a:ext>
            </a:extLst>
          </p:cNvPr>
          <p:cNvSpPr txBox="1"/>
          <p:nvPr/>
        </p:nvSpPr>
        <p:spPr>
          <a:xfrm>
            <a:off x="304800" y="1305341"/>
            <a:ext cx="11887200" cy="2308324"/>
          </a:xfrm>
          <a:prstGeom prst="rect">
            <a:avLst/>
          </a:prstGeom>
          <a:noFill/>
        </p:spPr>
        <p:txBody>
          <a:bodyPr wrap="square">
            <a:spAutoFit/>
          </a:bodyPr>
          <a:lstStyle/>
          <a:p>
            <a:r>
              <a:rPr lang="en-US" dirty="0"/>
              <a:t>Following are the different types of outer Joins −</a:t>
            </a:r>
          </a:p>
          <a:p>
            <a:endParaRPr lang="en-US" dirty="0"/>
          </a:p>
          <a:p>
            <a:r>
              <a:rPr lang="en-US" dirty="0"/>
              <a:t>LEFT JOIN − returns all rows from the left table, even if there are no matches in the right table.</a:t>
            </a:r>
          </a:p>
          <a:p>
            <a:endParaRPr lang="en-US" dirty="0"/>
          </a:p>
          <a:p>
            <a:r>
              <a:rPr lang="en-US" dirty="0"/>
              <a:t>RIGHT JOIN − returns all rows from the right table, even if there are no matches in the left table.</a:t>
            </a:r>
          </a:p>
          <a:p>
            <a:endParaRPr lang="en-US" dirty="0"/>
          </a:p>
          <a:p>
            <a:r>
              <a:rPr lang="en-US" dirty="0"/>
              <a:t>FULL JOIN − returns rows when there is a match in one of the tables.</a:t>
            </a:r>
          </a:p>
          <a:p>
            <a:endParaRPr lang="en-US" dirty="0"/>
          </a:p>
        </p:txBody>
      </p:sp>
    </p:spTree>
    <p:extLst>
      <p:ext uri="{BB962C8B-B14F-4D97-AF65-F5344CB8AC3E}">
        <p14:creationId xmlns:p14="http://schemas.microsoft.com/office/powerpoint/2010/main" val="34810797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CE8C187-A9B1-C601-0AC9-C70F8B718BCE}"/>
              </a:ext>
            </a:extLst>
          </p:cNvPr>
          <p:cNvSpPr txBox="1"/>
          <p:nvPr/>
        </p:nvSpPr>
        <p:spPr>
          <a:xfrm>
            <a:off x="310393" y="602601"/>
            <a:ext cx="11392249" cy="3416320"/>
          </a:xfrm>
          <a:prstGeom prst="rect">
            <a:avLst/>
          </a:prstGeom>
          <a:noFill/>
        </p:spPr>
        <p:txBody>
          <a:bodyPr wrap="square">
            <a:spAutoFit/>
          </a:bodyPr>
          <a:lstStyle/>
          <a:p>
            <a:r>
              <a:rPr lang="en-US" dirty="0"/>
              <a:t>An SQL Join clause is used to combine multiple related tables in a database, based on common fields/columns.</a:t>
            </a:r>
          </a:p>
          <a:p>
            <a:endParaRPr lang="en-US" dirty="0"/>
          </a:p>
          <a:p>
            <a:r>
              <a:rPr lang="en-US" dirty="0"/>
              <a:t>There are two major types of joins: Inner Join and Outer Join. Other joins like Left Join, Right Join, Full Join etc. Are just subtypes of these two major joins. In this tutorial, we will only learn about the Inner Join.</a:t>
            </a:r>
          </a:p>
          <a:p>
            <a:endParaRPr lang="en-US" dirty="0"/>
          </a:p>
          <a:p>
            <a:r>
              <a:rPr lang="en-US" dirty="0"/>
              <a:t>The SQL Inner Join</a:t>
            </a:r>
          </a:p>
          <a:p>
            <a:endParaRPr lang="en-US" dirty="0"/>
          </a:p>
          <a:p>
            <a:r>
              <a:rPr lang="en-US" dirty="0"/>
              <a:t>The SQL Inner Join is a type of join that combines multiple tables by retrieving records that have matching values in both tables (in the common column).</a:t>
            </a:r>
          </a:p>
          <a:p>
            <a:endParaRPr lang="en-US" dirty="0"/>
          </a:p>
          <a:p>
            <a:r>
              <a:rPr lang="en-US" dirty="0"/>
              <a:t>It compares each row of the first table with each row of the second table, to find all pairs of rows that satisfy the join-predicate. When the join-predicate is satisfied, the column values from both tables are combined into a new table.</a:t>
            </a:r>
          </a:p>
        </p:txBody>
      </p:sp>
      <p:pic>
        <p:nvPicPr>
          <p:cNvPr id="5" name="Picture 4" descr="Inner Join">
            <a:extLst>
              <a:ext uri="{FF2B5EF4-FFF2-40B4-BE49-F238E27FC236}">
                <a16:creationId xmlns:a16="http://schemas.microsoft.com/office/drawing/2014/main" id="{2241301D-67D8-E2D1-DDF4-D2FB15BFD0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6083" y="4085438"/>
            <a:ext cx="6667500" cy="18662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55841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C623175-65DC-29E3-73C6-F68572726864}"/>
              </a:ext>
            </a:extLst>
          </p:cNvPr>
          <p:cNvSpPr txBox="1"/>
          <p:nvPr/>
        </p:nvSpPr>
        <p:spPr>
          <a:xfrm>
            <a:off x="194345" y="271156"/>
            <a:ext cx="11803310" cy="3416320"/>
          </a:xfrm>
          <a:prstGeom prst="rect">
            <a:avLst/>
          </a:prstGeom>
          <a:noFill/>
        </p:spPr>
        <p:txBody>
          <a:bodyPr wrap="square">
            <a:spAutoFit/>
          </a:bodyPr>
          <a:lstStyle/>
          <a:p>
            <a:r>
              <a:rPr lang="en-US" dirty="0"/>
              <a:t>The Inner Join is also referred as Equijoin. It is the default join; i.e., even if the "</a:t>
            </a:r>
            <a:r>
              <a:rPr lang="en-US" dirty="0" err="1"/>
              <a:t>Join"keyword</a:t>
            </a:r>
            <a:r>
              <a:rPr lang="en-US" dirty="0"/>
              <a:t> is used instead of "Inner Join", tables are joined using matching records of common columns.</a:t>
            </a:r>
          </a:p>
          <a:p>
            <a:r>
              <a:rPr lang="en-US" dirty="0"/>
              <a:t>Explanation</a:t>
            </a:r>
          </a:p>
          <a:p>
            <a:r>
              <a:rPr lang="en-US" dirty="0"/>
              <a:t>Let us look at an example scenario to have a better understanding.</a:t>
            </a:r>
          </a:p>
          <a:p>
            <a:endParaRPr lang="en-US" dirty="0"/>
          </a:p>
          <a:p>
            <a:r>
              <a:rPr lang="en-US" dirty="0"/>
              <a:t>Suppose we have the information of employees in a company divided between two tables namely </a:t>
            </a:r>
            <a:r>
              <a:rPr lang="en-US" dirty="0" err="1"/>
              <a:t>EmpDetails</a:t>
            </a:r>
            <a:r>
              <a:rPr lang="en-US" dirty="0"/>
              <a:t> and Marital status. Where,</a:t>
            </a:r>
          </a:p>
          <a:p>
            <a:endParaRPr lang="en-US" dirty="0"/>
          </a:p>
          <a:p>
            <a:r>
              <a:rPr lang="en-US" dirty="0" err="1"/>
              <a:t>EmpDetails</a:t>
            </a:r>
            <a:r>
              <a:rPr lang="en-US" dirty="0"/>
              <a:t> table holds details like Employee ID, Name and Salary.</a:t>
            </a:r>
          </a:p>
          <a:p>
            <a:endParaRPr lang="en-US" dirty="0"/>
          </a:p>
          <a:p>
            <a:r>
              <a:rPr lang="en-US" dirty="0" err="1"/>
              <a:t>MaritalStatus</a:t>
            </a:r>
            <a:r>
              <a:rPr lang="en-US" dirty="0"/>
              <a:t> table holds the details Employee </a:t>
            </a:r>
            <a:r>
              <a:rPr lang="en-US" dirty="0" err="1"/>
              <a:t>ID,Name</a:t>
            </a:r>
            <a:r>
              <a:rPr lang="en-US" dirty="0"/>
              <a:t> and Marital Status.</a:t>
            </a:r>
          </a:p>
          <a:p>
            <a:endParaRPr lang="en-US" dirty="0"/>
          </a:p>
        </p:txBody>
      </p:sp>
      <p:pic>
        <p:nvPicPr>
          <p:cNvPr id="6" name="Picture 5">
            <a:extLst>
              <a:ext uri="{FF2B5EF4-FFF2-40B4-BE49-F238E27FC236}">
                <a16:creationId xmlns:a16="http://schemas.microsoft.com/office/drawing/2014/main" id="{F7FBBA98-D1F5-9D34-2800-924ABC1F9E03}"/>
              </a:ext>
            </a:extLst>
          </p:cNvPr>
          <p:cNvPicPr>
            <a:picLocks noChangeAspect="1"/>
          </p:cNvPicPr>
          <p:nvPr/>
        </p:nvPicPr>
        <p:blipFill>
          <a:blip r:embed="rId2"/>
          <a:stretch>
            <a:fillRect/>
          </a:stretch>
        </p:blipFill>
        <p:spPr>
          <a:xfrm>
            <a:off x="5275320" y="3429001"/>
            <a:ext cx="6657975" cy="2938244"/>
          </a:xfrm>
          <a:prstGeom prst="rect">
            <a:avLst/>
          </a:prstGeom>
        </p:spPr>
      </p:pic>
    </p:spTree>
    <p:extLst>
      <p:ext uri="{BB962C8B-B14F-4D97-AF65-F5344CB8AC3E}">
        <p14:creationId xmlns:p14="http://schemas.microsoft.com/office/powerpoint/2010/main" val="1661872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639C692-C09F-986B-44B9-5FD4B5F831CA}"/>
              </a:ext>
            </a:extLst>
          </p:cNvPr>
          <p:cNvSpPr txBox="1"/>
          <p:nvPr/>
        </p:nvSpPr>
        <p:spPr>
          <a:xfrm>
            <a:off x="151002" y="614942"/>
            <a:ext cx="11794921" cy="3970318"/>
          </a:xfrm>
          <a:prstGeom prst="rect">
            <a:avLst/>
          </a:prstGeom>
          <a:noFill/>
        </p:spPr>
        <p:txBody>
          <a:bodyPr wrap="square">
            <a:spAutoFit/>
          </a:bodyPr>
          <a:lstStyle/>
          <a:p>
            <a:r>
              <a:rPr lang="en-US" dirty="0"/>
              <a:t>What is Outer Join?</a:t>
            </a:r>
          </a:p>
          <a:p>
            <a:endParaRPr lang="en-US" dirty="0"/>
          </a:p>
          <a:p>
            <a:r>
              <a:rPr lang="en-US" dirty="0"/>
              <a:t>Outer Join is used to join multiple database tables into a combined result-set, that includes all the records, even if they don't satisfy the join condition. NULL values are displayed against these records where the join condition is not met.</a:t>
            </a:r>
          </a:p>
          <a:p>
            <a:endParaRPr lang="en-US" dirty="0"/>
          </a:p>
          <a:p>
            <a:r>
              <a:rPr lang="en-US" dirty="0"/>
              <a:t>This scenario only occurs if the left table (or the first table) has more records than the right table (or the second table), or vice versa.</a:t>
            </a:r>
          </a:p>
          <a:p>
            <a:r>
              <a:rPr lang="en-US" dirty="0"/>
              <a:t>There are three types of outer joins, namely −</a:t>
            </a:r>
          </a:p>
          <a:p>
            <a:endParaRPr lang="en-US" dirty="0"/>
          </a:p>
          <a:p>
            <a:r>
              <a:rPr lang="en-US" dirty="0"/>
              <a:t>Left (Outer) Join: Retrieves all the records from the first table, Matching records from the second table and NULL values in the unmatched rows.</a:t>
            </a:r>
          </a:p>
          <a:p>
            <a:r>
              <a:rPr lang="en-US" dirty="0"/>
              <a:t>Right (Outer) Join: Retrieves all the records from the second table, Matching records from the first table and NULL values in the unmatched rows.</a:t>
            </a:r>
          </a:p>
          <a:p>
            <a:r>
              <a:rPr lang="en-US" dirty="0"/>
              <a:t>Full (Outer) Join: Retrieves records from both the tables and fills the unmatched values with NULL.</a:t>
            </a:r>
          </a:p>
        </p:txBody>
      </p:sp>
    </p:spTree>
    <p:extLst>
      <p:ext uri="{BB962C8B-B14F-4D97-AF65-F5344CB8AC3E}">
        <p14:creationId xmlns:p14="http://schemas.microsoft.com/office/powerpoint/2010/main" val="16762884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D16FB98-D91A-84C0-1255-6A22315B4309}"/>
              </a:ext>
            </a:extLst>
          </p:cNvPr>
          <p:cNvPicPr>
            <a:picLocks noChangeAspect="1"/>
          </p:cNvPicPr>
          <p:nvPr/>
        </p:nvPicPr>
        <p:blipFill>
          <a:blip r:embed="rId2"/>
          <a:stretch>
            <a:fillRect/>
          </a:stretch>
        </p:blipFill>
        <p:spPr>
          <a:xfrm>
            <a:off x="623057" y="339755"/>
            <a:ext cx="6667500" cy="4114800"/>
          </a:xfrm>
          <a:prstGeom prst="rect">
            <a:avLst/>
          </a:prstGeom>
        </p:spPr>
      </p:pic>
    </p:spTree>
    <p:extLst>
      <p:ext uri="{BB962C8B-B14F-4D97-AF65-F5344CB8AC3E}">
        <p14:creationId xmlns:p14="http://schemas.microsoft.com/office/powerpoint/2010/main" val="15367750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B2A1C42-EB26-1D75-9F92-D2C838B9DD7B}"/>
              </a:ext>
            </a:extLst>
          </p:cNvPr>
          <p:cNvSpPr txBox="1"/>
          <p:nvPr/>
        </p:nvSpPr>
        <p:spPr>
          <a:xfrm>
            <a:off x="194345" y="418369"/>
            <a:ext cx="11803310" cy="2308324"/>
          </a:xfrm>
          <a:prstGeom prst="rect">
            <a:avLst/>
          </a:prstGeom>
          <a:noFill/>
        </p:spPr>
        <p:txBody>
          <a:bodyPr wrap="square">
            <a:spAutoFit/>
          </a:bodyPr>
          <a:lstStyle/>
          <a:p>
            <a:r>
              <a:rPr lang="en-US" dirty="0"/>
              <a:t>The SQL Left Join</a:t>
            </a:r>
          </a:p>
          <a:p>
            <a:r>
              <a:rPr lang="en-US" dirty="0"/>
              <a:t>Left Join or Left Outer Join in SQL combines two or more tables, where the first table is returned wholly; but, only the matching record(s) are retrieved from the consequent tables. If zero (0) records are matched in the consequent tables, the join will still return a row in the result, but with NULL in each column from the right table.</a:t>
            </a:r>
          </a:p>
          <a:p>
            <a:endParaRPr lang="en-US" dirty="0"/>
          </a:p>
          <a:p>
            <a:r>
              <a:rPr lang="en-US" dirty="0"/>
              <a:t>Left Join</a:t>
            </a:r>
          </a:p>
          <a:p>
            <a:r>
              <a:rPr lang="en-US" dirty="0"/>
              <a:t>If the number of rows in first table is less than the number of rows in second table, the rows in second table that do not have any counterparts in the first table will be discarded from the result.</a:t>
            </a:r>
          </a:p>
        </p:txBody>
      </p:sp>
      <p:pic>
        <p:nvPicPr>
          <p:cNvPr id="4" name="Picture 3">
            <a:extLst>
              <a:ext uri="{FF2B5EF4-FFF2-40B4-BE49-F238E27FC236}">
                <a16:creationId xmlns:a16="http://schemas.microsoft.com/office/drawing/2014/main" id="{9EBE3E53-09B4-4FC2-8852-EB00778BACF9}"/>
              </a:ext>
            </a:extLst>
          </p:cNvPr>
          <p:cNvPicPr>
            <a:picLocks noChangeAspect="1"/>
          </p:cNvPicPr>
          <p:nvPr/>
        </p:nvPicPr>
        <p:blipFill>
          <a:blip r:embed="rId2"/>
          <a:stretch>
            <a:fillRect/>
          </a:stretch>
        </p:blipFill>
        <p:spPr>
          <a:xfrm>
            <a:off x="2628026" y="3283853"/>
            <a:ext cx="6667500" cy="2152650"/>
          </a:xfrm>
          <a:prstGeom prst="rect">
            <a:avLst/>
          </a:prstGeom>
        </p:spPr>
      </p:pic>
    </p:spTree>
    <p:extLst>
      <p:ext uri="{BB962C8B-B14F-4D97-AF65-F5344CB8AC3E}">
        <p14:creationId xmlns:p14="http://schemas.microsoft.com/office/powerpoint/2010/main" val="32950404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DFAB902-4C6E-D979-0EE6-1AE42D43C2FE}"/>
              </a:ext>
            </a:extLst>
          </p:cNvPr>
          <p:cNvSpPr txBox="1"/>
          <p:nvPr/>
        </p:nvSpPr>
        <p:spPr>
          <a:xfrm>
            <a:off x="450209" y="502258"/>
            <a:ext cx="11291582" cy="3416320"/>
          </a:xfrm>
          <a:prstGeom prst="rect">
            <a:avLst/>
          </a:prstGeom>
          <a:noFill/>
        </p:spPr>
        <p:txBody>
          <a:bodyPr wrap="square">
            <a:spAutoFit/>
          </a:bodyPr>
          <a:lstStyle/>
          <a:p>
            <a:r>
              <a:rPr lang="en-US" dirty="0"/>
              <a:t>SQL - Left Join</a:t>
            </a:r>
          </a:p>
          <a:p>
            <a:r>
              <a:rPr lang="en-US" dirty="0"/>
              <a:t>toggle</a:t>
            </a:r>
          </a:p>
          <a:p>
            <a:endParaRPr lang="en-US" dirty="0"/>
          </a:p>
          <a:p>
            <a:r>
              <a:rPr lang="en-US" dirty="0"/>
              <a:t>Joins are used to retrieve records from two or more tables based on a logical relation between them. This relation is defined using a join condition. As we discussed in the previous chapters, there are two types of Joins −</a:t>
            </a:r>
          </a:p>
          <a:p>
            <a:endParaRPr lang="en-US" dirty="0"/>
          </a:p>
          <a:p>
            <a:r>
              <a:rPr lang="en-US" dirty="0"/>
              <a:t>Inner Join</a:t>
            </a:r>
          </a:p>
          <a:p>
            <a:r>
              <a:rPr lang="en-US" dirty="0"/>
              <a:t>Outer Join</a:t>
            </a:r>
          </a:p>
          <a:p>
            <a:r>
              <a:rPr lang="en-US" dirty="0"/>
              <a:t>Left Join is a type of outer join that retrieves all the records from the first table and matches them to the records in second table. First of all, let us understand what is outer join.</a:t>
            </a:r>
          </a:p>
          <a:p>
            <a:endParaRPr lang="en-US" dirty="0"/>
          </a:p>
          <a:p>
            <a:endParaRPr lang="en-US" dirty="0"/>
          </a:p>
        </p:txBody>
      </p:sp>
    </p:spTree>
    <p:extLst>
      <p:ext uri="{BB962C8B-B14F-4D97-AF65-F5344CB8AC3E}">
        <p14:creationId xmlns:p14="http://schemas.microsoft.com/office/powerpoint/2010/main" val="37854301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DFF76D-2365-273C-A01B-D3E0C800EE37}"/>
              </a:ext>
            </a:extLst>
          </p:cNvPr>
          <p:cNvSpPr txBox="1"/>
          <p:nvPr/>
        </p:nvSpPr>
        <p:spPr>
          <a:xfrm>
            <a:off x="151002" y="254378"/>
            <a:ext cx="12040998" cy="3693319"/>
          </a:xfrm>
          <a:prstGeom prst="rect">
            <a:avLst/>
          </a:prstGeom>
          <a:noFill/>
        </p:spPr>
        <p:txBody>
          <a:bodyPr wrap="square">
            <a:spAutoFit/>
          </a:bodyPr>
          <a:lstStyle/>
          <a:p>
            <a:r>
              <a:rPr lang="en-US" dirty="0"/>
              <a:t>SQL - Right Join</a:t>
            </a:r>
          </a:p>
          <a:p>
            <a:r>
              <a:rPr lang="en-US" dirty="0"/>
              <a:t>toggle</a:t>
            </a:r>
          </a:p>
          <a:p>
            <a:endParaRPr lang="en-US" dirty="0"/>
          </a:p>
          <a:p>
            <a:r>
              <a:rPr lang="en-US" dirty="0"/>
              <a:t>SQL Joins are used to retrieve records from multiple tables based on a given condition. A Join includes the records that satisfy the given condition and outer join results a table that contains both matched and unmatched rows.</a:t>
            </a:r>
          </a:p>
          <a:p>
            <a:endParaRPr lang="en-US" dirty="0"/>
          </a:p>
          <a:p>
            <a:r>
              <a:rPr lang="en-US" dirty="0"/>
              <a:t>Left Outer Join, as discussed in the previous tutorial, is used to find the union of two tables with respect to the left table. In this tutorial, let us discuss about the Right outer join.</a:t>
            </a:r>
          </a:p>
          <a:p>
            <a:endParaRPr lang="en-US" dirty="0"/>
          </a:p>
          <a:p>
            <a:r>
              <a:rPr lang="en-US" dirty="0"/>
              <a:t>The SQL Right Join</a:t>
            </a:r>
          </a:p>
          <a:p>
            <a:r>
              <a:rPr lang="en-US" dirty="0"/>
              <a:t>The Right Join or Right Outer Join query in SQL returns all rows from the right table, even if there are no matches in the left table. In short, a right join returns all the values from the right table, plus matched values from the left table or NULL in case of no matching join predicate.</a:t>
            </a:r>
          </a:p>
        </p:txBody>
      </p:sp>
      <p:pic>
        <p:nvPicPr>
          <p:cNvPr id="4" name="Picture 3">
            <a:extLst>
              <a:ext uri="{FF2B5EF4-FFF2-40B4-BE49-F238E27FC236}">
                <a16:creationId xmlns:a16="http://schemas.microsoft.com/office/drawing/2014/main" id="{19B989B2-C2F8-6559-7341-61B48D4475F7}"/>
              </a:ext>
            </a:extLst>
          </p:cNvPr>
          <p:cNvPicPr>
            <a:picLocks noChangeAspect="1"/>
          </p:cNvPicPr>
          <p:nvPr/>
        </p:nvPicPr>
        <p:blipFill>
          <a:blip r:embed="rId2"/>
          <a:stretch>
            <a:fillRect/>
          </a:stretch>
        </p:blipFill>
        <p:spPr>
          <a:xfrm>
            <a:off x="2477024" y="4075827"/>
            <a:ext cx="6667500" cy="2095500"/>
          </a:xfrm>
          <a:prstGeom prst="rect">
            <a:avLst/>
          </a:prstGeom>
        </p:spPr>
      </p:pic>
    </p:spTree>
    <p:extLst>
      <p:ext uri="{BB962C8B-B14F-4D97-AF65-F5344CB8AC3E}">
        <p14:creationId xmlns:p14="http://schemas.microsoft.com/office/powerpoint/2010/main" val="42371515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C49BB82-92AC-217F-D010-0D7D7AA27C24}"/>
              </a:ext>
            </a:extLst>
          </p:cNvPr>
          <p:cNvSpPr txBox="1"/>
          <p:nvPr/>
        </p:nvSpPr>
        <p:spPr>
          <a:xfrm>
            <a:off x="377504" y="476928"/>
            <a:ext cx="11627141" cy="3416320"/>
          </a:xfrm>
          <a:prstGeom prst="rect">
            <a:avLst/>
          </a:prstGeom>
          <a:noFill/>
        </p:spPr>
        <p:txBody>
          <a:bodyPr wrap="square">
            <a:spAutoFit/>
          </a:bodyPr>
          <a:lstStyle/>
          <a:p>
            <a:r>
              <a:rPr lang="en-US" dirty="0"/>
              <a:t>The SQL Full Join</a:t>
            </a:r>
          </a:p>
          <a:p>
            <a:endParaRPr lang="en-US" dirty="0"/>
          </a:p>
          <a:p>
            <a:endParaRPr lang="en-US" dirty="0"/>
          </a:p>
          <a:p>
            <a:r>
              <a:rPr lang="en-US" dirty="0"/>
              <a:t>SQL Full Join creates a new table by joining two tables as a whole. The joined table contains all records from both the tables and fills NULL values for missing matches on either side. In short, full join is a type of outer join that combines the result-sets of both left and right joins.</a:t>
            </a:r>
          </a:p>
          <a:p>
            <a:endParaRPr lang="en-US" dirty="0"/>
          </a:p>
          <a:p>
            <a:r>
              <a:rPr lang="en-US" dirty="0"/>
              <a:t>MySQL does not support Full Outer Join. Instead, you can imitate its working by performing union operation between the result-sets obtained from Left Join and Right Join.</a:t>
            </a:r>
          </a:p>
          <a:p>
            <a:r>
              <a:rPr lang="en-US" dirty="0"/>
              <a:t>Let us understand this concept in detail with the help of a Venn diagram below. Assume that we have two tables as two sets (represented by circles). The result-set (or newly joined table) obtained using full join is nothing but the union of these two sets.</a:t>
            </a:r>
          </a:p>
        </p:txBody>
      </p:sp>
      <p:pic>
        <p:nvPicPr>
          <p:cNvPr id="6" name="Picture 5">
            <a:extLst>
              <a:ext uri="{FF2B5EF4-FFF2-40B4-BE49-F238E27FC236}">
                <a16:creationId xmlns:a16="http://schemas.microsoft.com/office/drawing/2014/main" id="{264A4750-0A1B-1CD8-1007-67E84AD7F53D}"/>
              </a:ext>
            </a:extLst>
          </p:cNvPr>
          <p:cNvPicPr>
            <a:picLocks noChangeAspect="1"/>
          </p:cNvPicPr>
          <p:nvPr/>
        </p:nvPicPr>
        <p:blipFill>
          <a:blip r:embed="rId2"/>
          <a:stretch>
            <a:fillRect/>
          </a:stretch>
        </p:blipFill>
        <p:spPr>
          <a:xfrm>
            <a:off x="2767012" y="3942672"/>
            <a:ext cx="6657975" cy="2438400"/>
          </a:xfrm>
          <a:prstGeom prst="rect">
            <a:avLst/>
          </a:prstGeom>
        </p:spPr>
      </p:pic>
    </p:spTree>
    <p:extLst>
      <p:ext uri="{BB962C8B-B14F-4D97-AF65-F5344CB8AC3E}">
        <p14:creationId xmlns:p14="http://schemas.microsoft.com/office/powerpoint/2010/main" val="42799868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7CF9BF-85F5-467E-7A6A-1F678FEA8C7B}"/>
              </a:ext>
            </a:extLst>
          </p:cNvPr>
          <p:cNvSpPr txBox="1"/>
          <p:nvPr/>
        </p:nvSpPr>
        <p:spPr>
          <a:xfrm>
            <a:off x="285226" y="515409"/>
            <a:ext cx="10981189" cy="1477328"/>
          </a:xfrm>
          <a:prstGeom prst="rect">
            <a:avLst/>
          </a:prstGeom>
          <a:noFill/>
        </p:spPr>
        <p:txBody>
          <a:bodyPr wrap="square">
            <a:spAutoFit/>
          </a:bodyPr>
          <a:lstStyle/>
          <a:p>
            <a:r>
              <a:rPr lang="en-US" dirty="0"/>
              <a:t>You can also achieve the equivalent result-set of FULL JOIN by performing the UNION operation on result-sets of the LEFT JOIN and RIGHT JOIN.</a:t>
            </a:r>
          </a:p>
          <a:p>
            <a:r>
              <a:rPr lang="en-US" dirty="0"/>
              <a:t>Syntax</a:t>
            </a:r>
          </a:p>
          <a:p>
            <a:r>
              <a:rPr lang="en-US" dirty="0"/>
              <a:t>Following is the basic syntax of Full Join in SQL −</a:t>
            </a:r>
          </a:p>
          <a:p>
            <a:endParaRPr lang="en-US" dirty="0"/>
          </a:p>
        </p:txBody>
      </p:sp>
      <p:sp>
        <p:nvSpPr>
          <p:cNvPr id="5" name="TextBox 4">
            <a:extLst>
              <a:ext uri="{FF2B5EF4-FFF2-40B4-BE49-F238E27FC236}">
                <a16:creationId xmlns:a16="http://schemas.microsoft.com/office/drawing/2014/main" id="{BD795420-EC99-7190-836A-C90DCC5443C5}"/>
              </a:ext>
            </a:extLst>
          </p:cNvPr>
          <p:cNvSpPr txBox="1"/>
          <p:nvPr/>
        </p:nvSpPr>
        <p:spPr>
          <a:xfrm>
            <a:off x="285226" y="1992737"/>
            <a:ext cx="6094602" cy="1200329"/>
          </a:xfrm>
          <a:prstGeom prst="rect">
            <a:avLst/>
          </a:prstGeom>
          <a:noFill/>
        </p:spPr>
        <p:txBody>
          <a:bodyPr wrap="square">
            <a:spAutoFit/>
          </a:bodyPr>
          <a:lstStyle/>
          <a:p>
            <a:r>
              <a:rPr lang="en-US" dirty="0"/>
              <a:t>SELECT </a:t>
            </a:r>
            <a:r>
              <a:rPr lang="en-US" dirty="0" err="1"/>
              <a:t>column_name</a:t>
            </a:r>
            <a:r>
              <a:rPr lang="en-US" dirty="0"/>
              <a:t>(s)</a:t>
            </a:r>
          </a:p>
          <a:p>
            <a:r>
              <a:rPr lang="en-US" dirty="0"/>
              <a:t>FROM table1</a:t>
            </a:r>
          </a:p>
          <a:p>
            <a:r>
              <a:rPr lang="en-US" dirty="0"/>
              <a:t>FULL JOIN table2</a:t>
            </a:r>
          </a:p>
          <a:p>
            <a:r>
              <a:rPr lang="en-US" dirty="0"/>
              <a:t>ON table1.column_name = table2.column_name;</a:t>
            </a:r>
          </a:p>
        </p:txBody>
      </p:sp>
      <p:sp>
        <p:nvSpPr>
          <p:cNvPr id="7" name="TextBox 6">
            <a:extLst>
              <a:ext uri="{FF2B5EF4-FFF2-40B4-BE49-F238E27FC236}">
                <a16:creationId xmlns:a16="http://schemas.microsoft.com/office/drawing/2014/main" id="{9158B5CC-7E2E-76EC-28C4-0C0DAE9AAB05}"/>
              </a:ext>
            </a:extLst>
          </p:cNvPr>
          <p:cNvSpPr txBox="1"/>
          <p:nvPr/>
        </p:nvSpPr>
        <p:spPr>
          <a:xfrm>
            <a:off x="285226" y="3572602"/>
            <a:ext cx="11669086" cy="1754326"/>
          </a:xfrm>
          <a:prstGeom prst="rect">
            <a:avLst/>
          </a:prstGeom>
          <a:noFill/>
        </p:spPr>
        <p:txBody>
          <a:bodyPr wrap="square">
            <a:spAutoFit/>
          </a:bodyPr>
          <a:lstStyle/>
          <a:p>
            <a:r>
              <a:rPr lang="en-US" dirty="0"/>
              <a:t>Full Join with WHERE Clause</a:t>
            </a:r>
          </a:p>
          <a:p>
            <a:r>
              <a:rPr lang="en-US" dirty="0"/>
              <a:t>Joins use the ON clause to filter records by default. Let us suppose there is a further requirement to filter these records based on a certain condition/constraint, we can also make use of the WHERE clause with Joins.</a:t>
            </a:r>
          </a:p>
          <a:p>
            <a:endParaRPr lang="en-US" dirty="0"/>
          </a:p>
          <a:p>
            <a:r>
              <a:rPr lang="en-US" dirty="0"/>
              <a:t>Syntax</a:t>
            </a:r>
          </a:p>
          <a:p>
            <a:r>
              <a:rPr lang="en-US" dirty="0"/>
              <a:t>The syntax of Full Join when used with WHERE clause is given below −</a:t>
            </a:r>
          </a:p>
        </p:txBody>
      </p:sp>
    </p:spTree>
    <p:extLst>
      <p:ext uri="{BB962C8B-B14F-4D97-AF65-F5344CB8AC3E}">
        <p14:creationId xmlns:p14="http://schemas.microsoft.com/office/powerpoint/2010/main" val="19841623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C20E8DD-40AD-B946-CF16-C2CDA0AF0AFA}"/>
              </a:ext>
            </a:extLst>
          </p:cNvPr>
          <p:cNvSpPr txBox="1"/>
          <p:nvPr/>
        </p:nvSpPr>
        <p:spPr>
          <a:xfrm>
            <a:off x="371212" y="234459"/>
            <a:ext cx="11314651" cy="1477328"/>
          </a:xfrm>
          <a:prstGeom prst="rect">
            <a:avLst/>
          </a:prstGeom>
          <a:noFill/>
        </p:spPr>
        <p:txBody>
          <a:bodyPr wrap="square">
            <a:spAutoFit/>
          </a:bodyPr>
          <a:lstStyle/>
          <a:p>
            <a:r>
              <a:rPr lang="en-US" dirty="0"/>
              <a:t>SELECT </a:t>
            </a:r>
            <a:r>
              <a:rPr lang="en-US" dirty="0" err="1"/>
              <a:t>column_name</a:t>
            </a:r>
            <a:r>
              <a:rPr lang="en-US" dirty="0"/>
              <a:t>(s)</a:t>
            </a:r>
          </a:p>
          <a:p>
            <a:r>
              <a:rPr lang="en-US" dirty="0"/>
              <a:t>FROM table1</a:t>
            </a:r>
          </a:p>
          <a:p>
            <a:r>
              <a:rPr lang="en-US" dirty="0"/>
              <a:t>FULL JOIN table2</a:t>
            </a:r>
          </a:p>
          <a:p>
            <a:r>
              <a:rPr lang="en-US" dirty="0"/>
              <a:t>ON table1.column_name = table2.column_name</a:t>
            </a:r>
          </a:p>
          <a:p>
            <a:r>
              <a:rPr lang="en-US" dirty="0"/>
              <a:t>WHERE condition;</a:t>
            </a:r>
          </a:p>
        </p:txBody>
      </p:sp>
    </p:spTree>
    <p:extLst>
      <p:ext uri="{BB962C8B-B14F-4D97-AF65-F5344CB8AC3E}">
        <p14:creationId xmlns:p14="http://schemas.microsoft.com/office/powerpoint/2010/main" val="10200355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84B4AC7-BBA7-F7B2-7639-B6B867D29C20}"/>
              </a:ext>
            </a:extLst>
          </p:cNvPr>
          <p:cNvSpPr txBox="1"/>
          <p:nvPr/>
        </p:nvSpPr>
        <p:spPr>
          <a:xfrm>
            <a:off x="303402" y="518549"/>
            <a:ext cx="11585196" cy="4247317"/>
          </a:xfrm>
          <a:prstGeom prst="rect">
            <a:avLst/>
          </a:prstGeom>
          <a:noFill/>
        </p:spPr>
        <p:txBody>
          <a:bodyPr wrap="square">
            <a:spAutoFit/>
          </a:bodyPr>
          <a:lstStyle/>
          <a:p>
            <a:r>
              <a:rPr lang="en-US" dirty="0"/>
              <a:t>SQL - NOT Operator</a:t>
            </a:r>
          </a:p>
          <a:p>
            <a:r>
              <a:rPr lang="en-US" dirty="0"/>
              <a:t>toggle</a:t>
            </a:r>
          </a:p>
          <a:p>
            <a:endParaRPr lang="en-US" dirty="0"/>
          </a:p>
          <a:p>
            <a:r>
              <a:rPr lang="en-US" dirty="0"/>
              <a:t>Most of the times, there is a need to use two or more conditions to filter required records from a table; but sometimes satisfying one of the conditions would be enough. There are also scenarios when you need to retrieve records that do not satisfy the conditions specified. SQL provides logical connectives for this purpose. They are listed below −</a:t>
            </a:r>
          </a:p>
          <a:p>
            <a:endParaRPr lang="en-US" dirty="0"/>
          </a:p>
          <a:p>
            <a:r>
              <a:rPr lang="en-US" dirty="0"/>
              <a:t>AND − Operator</a:t>
            </a:r>
          </a:p>
          <a:p>
            <a:endParaRPr lang="en-US" dirty="0"/>
          </a:p>
          <a:p>
            <a:r>
              <a:rPr lang="en-US" dirty="0"/>
              <a:t>OR − Operator</a:t>
            </a:r>
          </a:p>
          <a:p>
            <a:endParaRPr lang="en-US" dirty="0"/>
          </a:p>
          <a:p>
            <a:r>
              <a:rPr lang="en-US" dirty="0"/>
              <a:t>NOT − Operator</a:t>
            </a:r>
          </a:p>
          <a:p>
            <a:endParaRPr lang="en-US" dirty="0"/>
          </a:p>
          <a:p>
            <a:r>
              <a:rPr lang="en-US" dirty="0"/>
              <a:t>With the help of these logical connectives, one can retrieve records that are required and also create exceptions for the records that are not needed to be retrieved.</a:t>
            </a:r>
          </a:p>
        </p:txBody>
      </p:sp>
    </p:spTree>
    <p:extLst>
      <p:ext uri="{BB962C8B-B14F-4D97-AF65-F5344CB8AC3E}">
        <p14:creationId xmlns:p14="http://schemas.microsoft.com/office/powerpoint/2010/main" val="274384557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935FA7-4ED0-1279-A053-D68A93F16DEC}"/>
              </a:ext>
            </a:extLst>
          </p:cNvPr>
          <p:cNvSpPr txBox="1"/>
          <p:nvPr/>
        </p:nvSpPr>
        <p:spPr>
          <a:xfrm>
            <a:off x="125834" y="753441"/>
            <a:ext cx="11979479" cy="3970318"/>
          </a:xfrm>
          <a:prstGeom prst="rect">
            <a:avLst/>
          </a:prstGeom>
          <a:noFill/>
        </p:spPr>
        <p:txBody>
          <a:bodyPr wrap="square">
            <a:spAutoFit/>
          </a:bodyPr>
          <a:lstStyle/>
          <a:p>
            <a:r>
              <a:rPr lang="en-US" dirty="0"/>
              <a:t>The SQL NOT Operator</a:t>
            </a:r>
          </a:p>
          <a:p>
            <a:endParaRPr lang="en-US" dirty="0"/>
          </a:p>
          <a:p>
            <a:r>
              <a:rPr lang="en-US" dirty="0"/>
              <a:t>SQL NOT is a logical operator/connective used to negate a condition or Boolean expression in a WHERE clause. That is, TRUE becomes FALSE and vice versa.</a:t>
            </a:r>
          </a:p>
          <a:p>
            <a:endParaRPr lang="en-US" dirty="0"/>
          </a:p>
          <a:p>
            <a:r>
              <a:rPr lang="en-US" dirty="0"/>
              <a:t>The most common scenario where this operator can be used occurs when there is a specification of what NOT to include in the result table, instead of what to include.</a:t>
            </a:r>
          </a:p>
          <a:p>
            <a:endParaRPr lang="en-US" dirty="0"/>
          </a:p>
          <a:p>
            <a:r>
              <a:rPr lang="en-US" dirty="0"/>
              <a:t>For instance, in an Indian voting system, people younger than 18 years of age are NOT allowed to vote. Therefore, while retrieving the information of all people who are eligible to vote, using the NOT operator, we can create an exception to minors since it is the only specification.</a:t>
            </a:r>
          </a:p>
          <a:p>
            <a:endParaRPr lang="en-US" dirty="0"/>
          </a:p>
          <a:p>
            <a:r>
              <a:rPr lang="en-US" dirty="0"/>
              <a:t>The NOT operator is always used in a WHERE clause so its scope within the clause is not always clear. Hence, a safer option to exactly execute the query is by enclosing the Boolean expression or a subquery by parentheses.</a:t>
            </a:r>
          </a:p>
        </p:txBody>
      </p:sp>
    </p:spTree>
    <p:extLst>
      <p:ext uri="{BB962C8B-B14F-4D97-AF65-F5344CB8AC3E}">
        <p14:creationId xmlns:p14="http://schemas.microsoft.com/office/powerpoint/2010/main" val="242738815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FB92D6-A4A5-A528-E2FB-87CB0BBB100B}"/>
              </a:ext>
            </a:extLst>
          </p:cNvPr>
          <p:cNvSpPr txBox="1"/>
          <p:nvPr/>
        </p:nvSpPr>
        <p:spPr>
          <a:xfrm>
            <a:off x="346045" y="368683"/>
            <a:ext cx="11264317" cy="1200329"/>
          </a:xfrm>
          <a:prstGeom prst="rect">
            <a:avLst/>
          </a:prstGeom>
          <a:noFill/>
        </p:spPr>
        <p:txBody>
          <a:bodyPr wrap="square">
            <a:spAutoFit/>
          </a:bodyPr>
          <a:lstStyle/>
          <a:p>
            <a:r>
              <a:rPr lang="en-US" dirty="0"/>
              <a:t>Syntax</a:t>
            </a:r>
          </a:p>
          <a:p>
            <a:r>
              <a:rPr lang="en-US" dirty="0"/>
              <a:t>Following is the syntax for SQL NOT operator −</a:t>
            </a:r>
          </a:p>
          <a:p>
            <a:endParaRPr lang="en-US" dirty="0"/>
          </a:p>
          <a:p>
            <a:r>
              <a:rPr lang="en-US" dirty="0"/>
              <a:t>NOT [CONDITION or BOOLEAN EXPRESSION];</a:t>
            </a:r>
          </a:p>
        </p:txBody>
      </p:sp>
    </p:spTree>
    <p:extLst>
      <p:ext uri="{BB962C8B-B14F-4D97-AF65-F5344CB8AC3E}">
        <p14:creationId xmlns:p14="http://schemas.microsoft.com/office/powerpoint/2010/main" val="17697962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A95F01E-95CD-818D-9CE3-8048448FAE6F}"/>
              </a:ext>
            </a:extLst>
          </p:cNvPr>
          <p:cNvSpPr txBox="1"/>
          <p:nvPr/>
        </p:nvSpPr>
        <p:spPr>
          <a:xfrm>
            <a:off x="268448" y="891941"/>
            <a:ext cx="11769754" cy="4247317"/>
          </a:xfrm>
          <a:prstGeom prst="rect">
            <a:avLst/>
          </a:prstGeom>
          <a:noFill/>
        </p:spPr>
        <p:txBody>
          <a:bodyPr wrap="square">
            <a:spAutoFit/>
          </a:bodyPr>
          <a:lstStyle/>
          <a:p>
            <a:r>
              <a:rPr lang="en-US" dirty="0"/>
              <a:t>The SQL NOT EQUAL Operator</a:t>
            </a:r>
          </a:p>
          <a:p>
            <a:endParaRPr lang="en-US" dirty="0"/>
          </a:p>
          <a:p>
            <a:endParaRPr lang="en-US" dirty="0"/>
          </a:p>
          <a:p>
            <a:r>
              <a:rPr lang="en-US" dirty="0"/>
              <a:t>The SQL NOT EQUAL operator is used to compare two values and return true if they are not equal. It is represented by "&lt;&gt;" and "!=". The difference between these two is that &lt;&gt; follows the ISO standard, but != doesn't. So, it is recommended to use the &lt;&gt; operator.</a:t>
            </a:r>
          </a:p>
          <a:p>
            <a:endParaRPr lang="en-US" dirty="0"/>
          </a:p>
          <a:p>
            <a:r>
              <a:rPr lang="en-US" dirty="0"/>
              <a:t>We can use the NOT EQUAL operator in WHERE clause to filter records based on a specific condition and in GROUP BY clause to group the results.</a:t>
            </a:r>
          </a:p>
          <a:p>
            <a:endParaRPr lang="en-US" dirty="0"/>
          </a:p>
          <a:p>
            <a:r>
              <a:rPr lang="en-US" dirty="0"/>
              <a:t>The comparison is case-sensitive by default, while using the NOT EQUAL operator with text values.</a:t>
            </a:r>
          </a:p>
          <a:p>
            <a:r>
              <a:rPr lang="en-US" dirty="0"/>
              <a:t>Syntax</a:t>
            </a:r>
          </a:p>
          <a:p>
            <a:r>
              <a:rPr lang="en-US" dirty="0"/>
              <a:t>Following is the syntax of the NOT EQUAL operator in SQL −</a:t>
            </a:r>
          </a:p>
          <a:p>
            <a:endParaRPr lang="en-US" dirty="0"/>
          </a:p>
          <a:p>
            <a:r>
              <a:rPr lang="en-US" dirty="0"/>
              <a:t>WHERE expression1 &lt;&gt; expression2;</a:t>
            </a:r>
          </a:p>
        </p:txBody>
      </p:sp>
    </p:spTree>
    <p:extLst>
      <p:ext uri="{BB962C8B-B14F-4D97-AF65-F5344CB8AC3E}">
        <p14:creationId xmlns:p14="http://schemas.microsoft.com/office/powerpoint/2010/main" val="127599199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F878976-BB2D-83BD-AE22-BEC0AF5D4333}"/>
              </a:ext>
            </a:extLst>
          </p:cNvPr>
          <p:cNvSpPr txBox="1"/>
          <p:nvPr/>
        </p:nvSpPr>
        <p:spPr>
          <a:xfrm>
            <a:off x="260059" y="372310"/>
            <a:ext cx="8932178" cy="2862322"/>
          </a:xfrm>
          <a:prstGeom prst="rect">
            <a:avLst/>
          </a:prstGeom>
          <a:noFill/>
        </p:spPr>
        <p:txBody>
          <a:bodyPr wrap="square">
            <a:spAutoFit/>
          </a:bodyPr>
          <a:lstStyle/>
          <a:p>
            <a:r>
              <a:rPr lang="en-US" dirty="0"/>
              <a:t>NOT EQUAL with Text</a:t>
            </a:r>
          </a:p>
          <a:p>
            <a:r>
              <a:rPr lang="en-US" dirty="0"/>
              <a:t>We can use the NOT EQUAL operator with text in SQL to compare two text values and return. We can use "&lt;&gt;" or "!=" in the WHERE clause of a SQL statement and exclude rows that match a specific text value.</a:t>
            </a:r>
          </a:p>
          <a:p>
            <a:endParaRPr lang="en-US" dirty="0"/>
          </a:p>
          <a:p>
            <a:r>
              <a:rPr lang="en-US" dirty="0"/>
              <a:t>Example</a:t>
            </a:r>
          </a:p>
          <a:p>
            <a:r>
              <a:rPr lang="en-US" dirty="0"/>
              <a:t>In the following query, we are retrieving all the records from the CUSTOMERS table whose NAME is not 'Ramesh' −</a:t>
            </a:r>
          </a:p>
          <a:p>
            <a:endParaRPr lang="en-US" dirty="0"/>
          </a:p>
          <a:p>
            <a:r>
              <a:rPr lang="en-US" dirty="0"/>
              <a:t>SELECT * FROM CUSTOMERS WHERE NAME &lt;&gt; 'Ramesh';</a:t>
            </a:r>
          </a:p>
        </p:txBody>
      </p:sp>
    </p:spTree>
    <p:extLst>
      <p:ext uri="{BB962C8B-B14F-4D97-AF65-F5344CB8AC3E}">
        <p14:creationId xmlns:p14="http://schemas.microsoft.com/office/powerpoint/2010/main" val="7351295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8E291E-7E0C-CDFA-6FFC-26BE371144EE}"/>
              </a:ext>
            </a:extLst>
          </p:cNvPr>
          <p:cNvSpPr txBox="1"/>
          <p:nvPr/>
        </p:nvSpPr>
        <p:spPr>
          <a:xfrm>
            <a:off x="184558" y="292209"/>
            <a:ext cx="11551640" cy="3693319"/>
          </a:xfrm>
          <a:prstGeom prst="rect">
            <a:avLst/>
          </a:prstGeom>
          <a:noFill/>
        </p:spPr>
        <p:txBody>
          <a:bodyPr wrap="square">
            <a:spAutoFit/>
          </a:bodyPr>
          <a:lstStyle/>
          <a:p>
            <a:r>
              <a:rPr lang="en-US" dirty="0"/>
              <a:t>NOT EQUAL with GROUP BY Clause</a:t>
            </a:r>
          </a:p>
          <a:p>
            <a:r>
              <a:rPr lang="en-US" dirty="0"/>
              <a:t>We can use the NOT EQUAL operator with the GROUP BY clause to group the results by the values that are not equal to the specified text value.</a:t>
            </a:r>
          </a:p>
          <a:p>
            <a:endParaRPr lang="en-US" dirty="0"/>
          </a:p>
          <a:p>
            <a:r>
              <a:rPr lang="en-US" dirty="0"/>
              <a:t>The aggregate functions such as COUNT(), MAX(), MIN(), SUM(), and AVG() are frequently used with the GROUP BY statement.</a:t>
            </a:r>
          </a:p>
          <a:p>
            <a:endParaRPr lang="en-US" dirty="0"/>
          </a:p>
          <a:p>
            <a:r>
              <a:rPr lang="en-US" dirty="0"/>
              <a:t>Example</a:t>
            </a:r>
          </a:p>
          <a:p>
            <a:r>
              <a:rPr lang="en-US" dirty="0"/>
              <a:t>Here, we are retrieving the number of records with distinct ages (excluding '22') in the 'CUSTOMERS' table and grouping them by age value −</a:t>
            </a:r>
          </a:p>
          <a:p>
            <a:endParaRPr lang="en-US" dirty="0"/>
          </a:p>
          <a:p>
            <a:r>
              <a:rPr lang="en-US" dirty="0"/>
              <a:t>SELECT COUNT(ID), AGE FROM CUSTOMERS </a:t>
            </a:r>
          </a:p>
          <a:p>
            <a:r>
              <a:rPr lang="en-US" dirty="0"/>
              <a:t>WHERE AGE &lt;&gt; '22' GROUP BY AGE;</a:t>
            </a:r>
          </a:p>
        </p:txBody>
      </p:sp>
    </p:spTree>
    <p:extLst>
      <p:ext uri="{BB962C8B-B14F-4D97-AF65-F5344CB8AC3E}">
        <p14:creationId xmlns:p14="http://schemas.microsoft.com/office/powerpoint/2010/main" val="351862647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983B68A-13C3-4248-630A-E5962E7263FF}"/>
              </a:ext>
            </a:extLst>
          </p:cNvPr>
          <p:cNvSpPr txBox="1"/>
          <p:nvPr/>
        </p:nvSpPr>
        <p:spPr>
          <a:xfrm>
            <a:off x="67112" y="598650"/>
            <a:ext cx="11870422" cy="2862322"/>
          </a:xfrm>
          <a:prstGeom prst="rect">
            <a:avLst/>
          </a:prstGeom>
          <a:noFill/>
        </p:spPr>
        <p:txBody>
          <a:bodyPr wrap="square">
            <a:spAutoFit/>
          </a:bodyPr>
          <a:lstStyle/>
          <a:p>
            <a:r>
              <a:rPr lang="en-US" dirty="0"/>
              <a:t>NOT EQUAL with Multiple Conditions</a:t>
            </a:r>
          </a:p>
          <a:p>
            <a:r>
              <a:rPr lang="en-US" dirty="0"/>
              <a:t>The not equal operator can also be used with multiple conditions in a WHERE clause to filter out rows that match specific criteria.</a:t>
            </a:r>
          </a:p>
          <a:p>
            <a:endParaRPr lang="en-US" dirty="0"/>
          </a:p>
          <a:p>
            <a:r>
              <a:rPr lang="en-US" dirty="0"/>
              <a:t>Example</a:t>
            </a:r>
          </a:p>
          <a:p>
            <a:r>
              <a:rPr lang="en-US" dirty="0"/>
              <a:t>Now, we are retrieving all the customers whose salary is either "&gt;2000" or "=2000". At the same time, the customer must not be from "Bhopal" −</a:t>
            </a:r>
          </a:p>
          <a:p>
            <a:endParaRPr lang="en-US" dirty="0"/>
          </a:p>
          <a:p>
            <a:r>
              <a:rPr lang="en-US" dirty="0"/>
              <a:t>SELECT * FROM CUSTOMERS </a:t>
            </a:r>
          </a:p>
          <a:p>
            <a:r>
              <a:rPr lang="en-US" dirty="0"/>
              <a:t>WHERE ADDRESS &lt;&gt; 'Bhopal' AND (SALARY&gt;'2000' OR SALARY='2000');</a:t>
            </a:r>
          </a:p>
        </p:txBody>
      </p:sp>
    </p:spTree>
    <p:extLst>
      <p:ext uri="{BB962C8B-B14F-4D97-AF65-F5344CB8AC3E}">
        <p14:creationId xmlns:p14="http://schemas.microsoft.com/office/powerpoint/2010/main" val="174257658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5DD5A0-944B-434C-77FA-7505F9EFF114}"/>
              </a:ext>
            </a:extLst>
          </p:cNvPr>
          <p:cNvSpPr txBox="1"/>
          <p:nvPr/>
        </p:nvSpPr>
        <p:spPr>
          <a:xfrm>
            <a:off x="411061" y="190892"/>
            <a:ext cx="11627142" cy="6186309"/>
          </a:xfrm>
          <a:prstGeom prst="rect">
            <a:avLst/>
          </a:prstGeom>
          <a:noFill/>
        </p:spPr>
        <p:txBody>
          <a:bodyPr wrap="square">
            <a:spAutoFit/>
          </a:bodyPr>
          <a:lstStyle/>
          <a:p>
            <a:r>
              <a:rPr lang="en-US" dirty="0"/>
              <a:t>SQL - IS NULL</a:t>
            </a:r>
          </a:p>
          <a:p>
            <a:r>
              <a:rPr lang="en-US" dirty="0"/>
              <a:t>toggle</a:t>
            </a:r>
          </a:p>
          <a:p>
            <a:endParaRPr lang="en-US" dirty="0"/>
          </a:p>
          <a:p>
            <a:r>
              <a:rPr lang="en-US" dirty="0"/>
              <a:t>Let's assume a table with NULL values in some of its fields. These fields indicate that no values are present in them. SQL allows users to create new records or modify existing ones without specifying a value for a field. If no value is provided, the field is stored with a NULL value.</a:t>
            </a:r>
          </a:p>
          <a:p>
            <a:endParaRPr lang="en-US" dirty="0"/>
          </a:p>
          <a:p>
            <a:r>
              <a:rPr lang="en-US" dirty="0"/>
              <a:t>In SQL, it is not possible to check NULL values with comparison operators such as =, &lt;, or &lt;&gt;. Instead, we use the IS NULL and IS NOT NULL (negation of NULL values) operators.</a:t>
            </a:r>
          </a:p>
          <a:p>
            <a:endParaRPr lang="en-US" dirty="0"/>
          </a:p>
          <a:p>
            <a:r>
              <a:rPr lang="en-US" dirty="0"/>
              <a:t>The SQL IS NULL Operator</a:t>
            </a:r>
          </a:p>
          <a:p>
            <a:r>
              <a:rPr lang="en-US" dirty="0"/>
              <a:t>The SQL IS NULL operator is used to check whether a value in a column is NULL. It returns true if the column value is NULL; otherwise false.</a:t>
            </a:r>
          </a:p>
          <a:p>
            <a:endParaRPr lang="en-US" dirty="0"/>
          </a:p>
          <a:p>
            <a:r>
              <a:rPr lang="en-US" dirty="0"/>
              <a:t>The NULL is a value that represents missing or unknown data, and the IS NULL operator allows us to filter for records that contain NULL values in a particular column.</a:t>
            </a:r>
          </a:p>
          <a:p>
            <a:r>
              <a:rPr lang="en-US" dirty="0"/>
              <a:t>Syntax</a:t>
            </a:r>
          </a:p>
          <a:p>
            <a:r>
              <a:rPr lang="en-US" dirty="0"/>
              <a:t>Following is the syntax of IS NULL operator −</a:t>
            </a:r>
          </a:p>
          <a:p>
            <a:endParaRPr lang="en-US" dirty="0"/>
          </a:p>
          <a:p>
            <a:r>
              <a:rPr lang="en-US" dirty="0"/>
              <a:t>SELECT column_name1, column_name2, column_name3, ... , </a:t>
            </a:r>
            <a:r>
              <a:rPr lang="en-US" dirty="0" err="1"/>
              <a:t>column_nameN</a:t>
            </a:r>
            <a:endParaRPr lang="en-US" dirty="0"/>
          </a:p>
          <a:p>
            <a:r>
              <a:rPr lang="en-US" dirty="0"/>
              <a:t>FROM </a:t>
            </a:r>
            <a:r>
              <a:rPr lang="en-US" dirty="0" err="1"/>
              <a:t>table_name</a:t>
            </a:r>
            <a:endParaRPr lang="en-US" dirty="0"/>
          </a:p>
          <a:p>
            <a:r>
              <a:rPr lang="en-US" dirty="0"/>
              <a:t>WHERE </a:t>
            </a:r>
            <a:r>
              <a:rPr lang="en-US" dirty="0" err="1"/>
              <a:t>column_nameN</a:t>
            </a:r>
            <a:r>
              <a:rPr lang="en-US" dirty="0"/>
              <a:t> IS NULL;</a:t>
            </a:r>
          </a:p>
        </p:txBody>
      </p:sp>
    </p:spTree>
    <p:extLst>
      <p:ext uri="{BB962C8B-B14F-4D97-AF65-F5344CB8AC3E}">
        <p14:creationId xmlns:p14="http://schemas.microsoft.com/office/powerpoint/2010/main" val="134585173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82236A2-68C6-3215-5456-B789DAE3E1D3}"/>
              </a:ext>
            </a:extLst>
          </p:cNvPr>
          <p:cNvSpPr txBox="1"/>
          <p:nvPr/>
        </p:nvSpPr>
        <p:spPr>
          <a:xfrm>
            <a:off x="218114" y="278896"/>
            <a:ext cx="11132190" cy="5909310"/>
          </a:xfrm>
          <a:prstGeom prst="rect">
            <a:avLst/>
          </a:prstGeom>
          <a:noFill/>
        </p:spPr>
        <p:txBody>
          <a:bodyPr wrap="square">
            <a:spAutoFit/>
          </a:bodyPr>
          <a:lstStyle/>
          <a:p>
            <a:r>
              <a:rPr lang="en-US" dirty="0"/>
              <a:t>SQL - IS NOT NULL</a:t>
            </a:r>
          </a:p>
          <a:p>
            <a:r>
              <a:rPr lang="en-US" dirty="0"/>
              <a:t>toggle</a:t>
            </a:r>
          </a:p>
          <a:p>
            <a:endParaRPr lang="en-US" dirty="0"/>
          </a:p>
          <a:p>
            <a:r>
              <a:rPr lang="en-US" dirty="0"/>
              <a:t>A NULL value indicates a missing or unknown value. It appears to be blank and does not contain any data. It is very important to understand that a NULL value is different than a zero value or a field that contains spaces. For checking null values we can use two basic operators.</a:t>
            </a:r>
          </a:p>
          <a:p>
            <a:endParaRPr lang="en-US" dirty="0"/>
          </a:p>
          <a:p>
            <a:r>
              <a:rPr lang="en-US" dirty="0"/>
              <a:t>IS NULL</a:t>
            </a:r>
          </a:p>
          <a:p>
            <a:r>
              <a:rPr lang="en-US" dirty="0"/>
              <a:t>IS NOT NULL</a:t>
            </a:r>
          </a:p>
          <a:p>
            <a:r>
              <a:rPr lang="en-US" dirty="0"/>
              <a:t>The SQL IS NOT NULL Operator</a:t>
            </a:r>
          </a:p>
          <a:p>
            <a:r>
              <a:rPr lang="en-US" dirty="0"/>
              <a:t>The SQL IS NOT NULL operator is used to filter data by verifying whether a particular column has a not-null values. This operator can be used with SQL statements such as SELECT, UPDATE, and DELETE.</a:t>
            </a:r>
          </a:p>
          <a:p>
            <a:endParaRPr lang="en-US" dirty="0"/>
          </a:p>
          <a:p>
            <a:r>
              <a:rPr lang="en-US" dirty="0"/>
              <a:t>By using the IS NOT NULL operator, we can only fetch the records that contain valid data in a particular column.</a:t>
            </a:r>
          </a:p>
          <a:p>
            <a:endParaRPr lang="en-US" dirty="0"/>
          </a:p>
          <a:p>
            <a:r>
              <a:rPr lang="en-US" dirty="0"/>
              <a:t>Syntax</a:t>
            </a:r>
          </a:p>
          <a:p>
            <a:r>
              <a:rPr lang="en-US" dirty="0"/>
              <a:t>Following is the syntax of the SQL IS NOT NULL operator −</a:t>
            </a:r>
          </a:p>
          <a:p>
            <a:endParaRPr lang="en-US" dirty="0"/>
          </a:p>
          <a:p>
            <a:r>
              <a:rPr lang="en-US" dirty="0"/>
              <a:t>SELECT </a:t>
            </a:r>
            <a:r>
              <a:rPr lang="en-US" dirty="0" err="1"/>
              <a:t>column_names</a:t>
            </a:r>
            <a:endParaRPr lang="en-US" dirty="0"/>
          </a:p>
          <a:p>
            <a:r>
              <a:rPr lang="en-US" dirty="0"/>
              <a:t>FROM </a:t>
            </a:r>
            <a:r>
              <a:rPr lang="en-US" dirty="0" err="1"/>
              <a:t>table_name</a:t>
            </a:r>
            <a:endParaRPr lang="en-US" dirty="0"/>
          </a:p>
          <a:p>
            <a:r>
              <a:rPr lang="en-US" dirty="0"/>
              <a:t>WHERE </a:t>
            </a:r>
            <a:r>
              <a:rPr lang="en-US" dirty="0" err="1"/>
              <a:t>column_name</a:t>
            </a:r>
            <a:r>
              <a:rPr lang="en-US" dirty="0"/>
              <a:t> IS NOT NULL;</a:t>
            </a:r>
          </a:p>
        </p:txBody>
      </p:sp>
    </p:spTree>
    <p:extLst>
      <p:ext uri="{BB962C8B-B14F-4D97-AF65-F5344CB8AC3E}">
        <p14:creationId xmlns:p14="http://schemas.microsoft.com/office/powerpoint/2010/main" val="189940940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D81A0ED-19D1-1B96-3C0B-B53D74B5FF94}"/>
              </a:ext>
            </a:extLst>
          </p:cNvPr>
          <p:cNvSpPr txBox="1"/>
          <p:nvPr/>
        </p:nvSpPr>
        <p:spPr>
          <a:xfrm>
            <a:off x="528506" y="204692"/>
            <a:ext cx="8529507" cy="2862322"/>
          </a:xfrm>
          <a:prstGeom prst="rect">
            <a:avLst/>
          </a:prstGeom>
          <a:noFill/>
        </p:spPr>
        <p:txBody>
          <a:bodyPr wrap="square">
            <a:spAutoFit/>
          </a:bodyPr>
          <a:lstStyle/>
          <a:p>
            <a:r>
              <a:rPr lang="en-US" dirty="0"/>
              <a:t>The SQL BETWEEN Operator</a:t>
            </a:r>
          </a:p>
          <a:p>
            <a:endParaRPr lang="en-US" dirty="0"/>
          </a:p>
          <a:p>
            <a:endParaRPr lang="en-US" dirty="0"/>
          </a:p>
          <a:p>
            <a:r>
              <a:rPr lang="en-US" dirty="0"/>
              <a:t>The BETWEEN operator is a logical operator in SQL, that is used to retrieve the data within a specified range. The retrieved values can be integers, characters, or dates.</a:t>
            </a:r>
          </a:p>
          <a:p>
            <a:endParaRPr lang="en-US" dirty="0"/>
          </a:p>
          <a:p>
            <a:r>
              <a:rPr lang="en-US" dirty="0"/>
              <a:t>You can use the BETWEEN operator to replace a combination of "greater than equal AND less than equal" conditions.</a:t>
            </a:r>
          </a:p>
          <a:p>
            <a:endParaRPr lang="en-US" dirty="0"/>
          </a:p>
          <a:p>
            <a:r>
              <a:rPr lang="en-US" dirty="0"/>
              <a:t>Let us understand it in a better way by using the below example table −</a:t>
            </a:r>
          </a:p>
        </p:txBody>
      </p:sp>
      <p:pic>
        <p:nvPicPr>
          <p:cNvPr id="4" name="Picture 3">
            <a:extLst>
              <a:ext uri="{FF2B5EF4-FFF2-40B4-BE49-F238E27FC236}">
                <a16:creationId xmlns:a16="http://schemas.microsoft.com/office/drawing/2014/main" id="{7E9899FE-9873-977D-99E3-8F78FD262864}"/>
              </a:ext>
            </a:extLst>
          </p:cNvPr>
          <p:cNvPicPr>
            <a:picLocks noChangeAspect="1"/>
          </p:cNvPicPr>
          <p:nvPr/>
        </p:nvPicPr>
        <p:blipFill>
          <a:blip r:embed="rId2"/>
          <a:stretch>
            <a:fillRect/>
          </a:stretch>
        </p:blipFill>
        <p:spPr>
          <a:xfrm>
            <a:off x="1894339" y="3429000"/>
            <a:ext cx="6591300" cy="2667000"/>
          </a:xfrm>
          <a:prstGeom prst="rect">
            <a:avLst/>
          </a:prstGeom>
        </p:spPr>
      </p:pic>
    </p:spTree>
    <p:extLst>
      <p:ext uri="{BB962C8B-B14F-4D97-AF65-F5344CB8AC3E}">
        <p14:creationId xmlns:p14="http://schemas.microsoft.com/office/powerpoint/2010/main" val="71065201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47833AD-3AE2-C51B-D04E-9259CFF172BC}"/>
              </a:ext>
            </a:extLst>
          </p:cNvPr>
          <p:cNvSpPr txBox="1"/>
          <p:nvPr/>
        </p:nvSpPr>
        <p:spPr>
          <a:xfrm>
            <a:off x="637563" y="493706"/>
            <a:ext cx="11241247" cy="3970318"/>
          </a:xfrm>
          <a:prstGeom prst="rect">
            <a:avLst/>
          </a:prstGeom>
          <a:noFill/>
        </p:spPr>
        <p:txBody>
          <a:bodyPr wrap="square">
            <a:spAutoFit/>
          </a:bodyPr>
          <a:lstStyle/>
          <a:p>
            <a:r>
              <a:rPr lang="en-US" dirty="0"/>
              <a:t>Suppose we want to list out the names from the above table who are aged BETWEEN 20 and 30. So, we will get "Varma(21)", "Nikhil(25)", and "Bhargav(29)" as a result.</a:t>
            </a:r>
          </a:p>
          <a:p>
            <a:endParaRPr lang="en-US" dirty="0"/>
          </a:p>
          <a:p>
            <a:r>
              <a:rPr lang="en-US" dirty="0"/>
              <a:t>Syntax</a:t>
            </a:r>
          </a:p>
          <a:p>
            <a:r>
              <a:rPr lang="en-US" dirty="0"/>
              <a:t>Following is the syntax of the BETWEEN operator in SQL −</a:t>
            </a:r>
          </a:p>
          <a:p>
            <a:endParaRPr lang="en-US" dirty="0"/>
          </a:p>
          <a:p>
            <a:r>
              <a:rPr lang="en-US" dirty="0"/>
              <a:t>SELECT column1, column2, column3,....</a:t>
            </a:r>
            <a:r>
              <a:rPr lang="en-US" dirty="0" err="1"/>
              <a:t>columnN</a:t>
            </a:r>
            <a:endParaRPr lang="en-US" dirty="0"/>
          </a:p>
          <a:p>
            <a:r>
              <a:rPr lang="en-US" dirty="0"/>
              <a:t>FROM </a:t>
            </a:r>
            <a:r>
              <a:rPr lang="en-US" dirty="0" err="1"/>
              <a:t>table_name</a:t>
            </a:r>
            <a:endParaRPr lang="en-US" dirty="0"/>
          </a:p>
          <a:p>
            <a:r>
              <a:rPr lang="en-US" dirty="0"/>
              <a:t>WHERE column BETWEEN value1 AND value2;</a:t>
            </a:r>
          </a:p>
          <a:p>
            <a:r>
              <a:rPr lang="en-US" dirty="0"/>
              <a:t>Here,</a:t>
            </a:r>
          </a:p>
          <a:p>
            <a:endParaRPr lang="en-US" dirty="0"/>
          </a:p>
          <a:p>
            <a:r>
              <a:rPr lang="en-US" dirty="0"/>
              <a:t>value1 is the beginning value of the range.</a:t>
            </a:r>
          </a:p>
          <a:p>
            <a:r>
              <a:rPr lang="en-US" dirty="0"/>
              <a:t>value2 is the ending value of the range (inclusive).</a:t>
            </a:r>
          </a:p>
          <a:p>
            <a:r>
              <a:rPr lang="en-US" dirty="0"/>
              <a:t>Example</a:t>
            </a:r>
          </a:p>
        </p:txBody>
      </p:sp>
    </p:spTree>
    <p:extLst>
      <p:ext uri="{BB962C8B-B14F-4D97-AF65-F5344CB8AC3E}">
        <p14:creationId xmlns:p14="http://schemas.microsoft.com/office/powerpoint/2010/main" val="288832320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BD5827-CE14-93F2-BBF1-E7DF94FDDA47}"/>
              </a:ext>
            </a:extLst>
          </p:cNvPr>
          <p:cNvSpPr txBox="1"/>
          <p:nvPr/>
        </p:nvSpPr>
        <p:spPr>
          <a:xfrm>
            <a:off x="385894" y="590099"/>
            <a:ext cx="11048300" cy="3970318"/>
          </a:xfrm>
          <a:prstGeom prst="rect">
            <a:avLst/>
          </a:prstGeom>
          <a:noFill/>
        </p:spPr>
        <p:txBody>
          <a:bodyPr wrap="square">
            <a:spAutoFit/>
          </a:bodyPr>
          <a:lstStyle/>
          <a:p>
            <a:r>
              <a:rPr lang="en-US" dirty="0"/>
              <a:t>BETWEEN Operator with IN Operator</a:t>
            </a:r>
          </a:p>
          <a:p>
            <a:endParaRPr lang="en-US" dirty="0"/>
          </a:p>
          <a:p>
            <a:r>
              <a:rPr lang="en-US" dirty="0"/>
              <a:t>In SQL, we can combine the BETWEEN operator with the IN operator to select values that are within a specified range and also matches with values specified in the list of IN clause.</a:t>
            </a:r>
          </a:p>
          <a:p>
            <a:endParaRPr lang="en-US" dirty="0"/>
          </a:p>
          <a:p>
            <a:r>
              <a:rPr lang="en-US" dirty="0"/>
              <a:t>Example</a:t>
            </a:r>
          </a:p>
          <a:p>
            <a:r>
              <a:rPr lang="en-US" dirty="0"/>
              <a:t>In the following query, we are retrieving the details of all the customers whose salary is between 4000 and 10000. In addition, we are only retrieving the customers who lives in Hyderabad and Bhopal using the IN operator in SQL −</a:t>
            </a:r>
          </a:p>
          <a:p>
            <a:endParaRPr lang="en-US" dirty="0"/>
          </a:p>
          <a:p>
            <a:r>
              <a:rPr lang="en-US" dirty="0"/>
              <a:t>SELECT * FROM CUSTOMERS</a:t>
            </a:r>
          </a:p>
          <a:p>
            <a:r>
              <a:rPr lang="en-US" dirty="0"/>
              <a:t>WHERE SALARY BETWEEN 4000 AND 10000</a:t>
            </a:r>
          </a:p>
          <a:p>
            <a:r>
              <a:rPr lang="en-US" dirty="0"/>
              <a:t>  AND ADDRESS IN ('Hyderabad', 'Bhopal');</a:t>
            </a:r>
          </a:p>
          <a:p>
            <a:r>
              <a:rPr lang="en-US" dirty="0"/>
              <a:t>Output</a:t>
            </a:r>
          </a:p>
        </p:txBody>
      </p:sp>
    </p:spTree>
    <p:extLst>
      <p:ext uri="{BB962C8B-B14F-4D97-AF65-F5344CB8AC3E}">
        <p14:creationId xmlns:p14="http://schemas.microsoft.com/office/powerpoint/2010/main" val="254776522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5A552A-F0CE-5248-DAE0-A1FC4B50992F}"/>
              </a:ext>
            </a:extLst>
          </p:cNvPr>
          <p:cNvSpPr txBox="1"/>
          <p:nvPr/>
        </p:nvSpPr>
        <p:spPr>
          <a:xfrm>
            <a:off x="67111" y="170002"/>
            <a:ext cx="11593585" cy="4801314"/>
          </a:xfrm>
          <a:prstGeom prst="rect">
            <a:avLst/>
          </a:prstGeom>
          <a:noFill/>
        </p:spPr>
        <p:txBody>
          <a:bodyPr wrap="square">
            <a:spAutoFit/>
          </a:bodyPr>
          <a:lstStyle/>
          <a:p>
            <a:r>
              <a:rPr lang="en-US" dirty="0"/>
              <a:t>The SQL Primary Key</a:t>
            </a:r>
          </a:p>
          <a:p>
            <a:endParaRPr lang="en-US" dirty="0"/>
          </a:p>
          <a:p>
            <a:endParaRPr lang="en-US" dirty="0"/>
          </a:p>
          <a:p>
            <a:r>
              <a:rPr lang="en-US" dirty="0"/>
              <a:t>The SQL Primary Key is a column (or combination of columns) that uniquely identifies each record in a database table. The Primary Key also speeds up data access and is used to establish a relationship between tables.</a:t>
            </a:r>
          </a:p>
          <a:p>
            <a:endParaRPr lang="en-US" dirty="0"/>
          </a:p>
          <a:p>
            <a:r>
              <a:rPr lang="en-US" dirty="0"/>
              <a:t>Even though a table can only have one Primary Key, it can be defined on one or more fields. When a primary key is created on multiple fields of a table, it is called a Composite Key.</a:t>
            </a:r>
          </a:p>
          <a:p>
            <a:r>
              <a:rPr lang="en-US" dirty="0"/>
              <a:t>Let us say, you are developing an application called "Customer Management System" to handle all the customer data of a member-only resort. This data can include their personal details, assigned member IDs, other details of the membership they opted, etc. And in all the tables created within this database, the member ID is used to distinguish the customers from each other. So, this field will be the Primary Key.</a:t>
            </a:r>
          </a:p>
          <a:p>
            <a:endParaRPr lang="en-US" dirty="0"/>
          </a:p>
          <a:p>
            <a:r>
              <a:rPr lang="en-US" dirty="0"/>
              <a:t>Following is the diagram of a CUSTOMERS table that holds the personal details of the customers. And as we can observe, the primary key is defined on the CUST_ID column. Using this primary key, we can retrieve a unique record of any customer.</a:t>
            </a:r>
          </a:p>
          <a:p>
            <a:endParaRPr lang="en-US" dirty="0"/>
          </a:p>
        </p:txBody>
      </p:sp>
      <p:pic>
        <p:nvPicPr>
          <p:cNvPr id="4" name="Picture 3">
            <a:extLst>
              <a:ext uri="{FF2B5EF4-FFF2-40B4-BE49-F238E27FC236}">
                <a16:creationId xmlns:a16="http://schemas.microsoft.com/office/drawing/2014/main" id="{C13D6C56-E86E-9CDD-A66D-A994FCB40F23}"/>
              </a:ext>
            </a:extLst>
          </p:cNvPr>
          <p:cNvPicPr>
            <a:picLocks noChangeAspect="1"/>
          </p:cNvPicPr>
          <p:nvPr/>
        </p:nvPicPr>
        <p:blipFill>
          <a:blip r:embed="rId2"/>
          <a:stretch>
            <a:fillRect/>
          </a:stretch>
        </p:blipFill>
        <p:spPr>
          <a:xfrm>
            <a:off x="2628027" y="4622552"/>
            <a:ext cx="6667500" cy="1438275"/>
          </a:xfrm>
          <a:prstGeom prst="rect">
            <a:avLst/>
          </a:prstGeom>
        </p:spPr>
      </p:pic>
    </p:spTree>
    <p:extLst>
      <p:ext uri="{BB962C8B-B14F-4D97-AF65-F5344CB8AC3E}">
        <p14:creationId xmlns:p14="http://schemas.microsoft.com/office/powerpoint/2010/main" val="377726796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CC2B5E7-3EEA-0542-9F89-36618B3FB1F1}"/>
              </a:ext>
            </a:extLst>
          </p:cNvPr>
          <p:cNvSpPr txBox="1"/>
          <p:nvPr/>
        </p:nvSpPr>
        <p:spPr>
          <a:xfrm>
            <a:off x="142613" y="614942"/>
            <a:ext cx="11870422" cy="4801314"/>
          </a:xfrm>
          <a:prstGeom prst="rect">
            <a:avLst/>
          </a:prstGeom>
          <a:noFill/>
        </p:spPr>
        <p:txBody>
          <a:bodyPr wrap="square">
            <a:spAutoFit/>
          </a:bodyPr>
          <a:lstStyle/>
          <a:p>
            <a:r>
              <a:rPr lang="en-US" dirty="0"/>
              <a:t>Points to Remember</a:t>
            </a:r>
          </a:p>
          <a:p>
            <a:r>
              <a:rPr lang="en-US" dirty="0"/>
              <a:t>Here are some key points of the PRIMARY KEY −</a:t>
            </a:r>
          </a:p>
          <a:p>
            <a:endParaRPr lang="en-US" dirty="0"/>
          </a:p>
          <a:p>
            <a:r>
              <a:rPr lang="en-US" dirty="0"/>
              <a:t>It contains only a unique value.</a:t>
            </a:r>
          </a:p>
          <a:p>
            <a:endParaRPr lang="en-US" dirty="0"/>
          </a:p>
          <a:p>
            <a:r>
              <a:rPr lang="en-US" dirty="0"/>
              <a:t>It can not be null.</a:t>
            </a:r>
          </a:p>
          <a:p>
            <a:endParaRPr lang="en-US" dirty="0"/>
          </a:p>
          <a:p>
            <a:r>
              <a:rPr lang="en-US" dirty="0"/>
              <a:t>One table can have only one Primary Key.</a:t>
            </a:r>
          </a:p>
          <a:p>
            <a:endParaRPr lang="en-US" dirty="0"/>
          </a:p>
          <a:p>
            <a:r>
              <a:rPr lang="en-US" dirty="0"/>
              <a:t>A primary key length cannot be more than 900 bytes.</a:t>
            </a:r>
          </a:p>
          <a:p>
            <a:endParaRPr lang="en-US" dirty="0"/>
          </a:p>
          <a:p>
            <a:r>
              <a:rPr lang="en-US" dirty="0"/>
              <a:t>Creating an SQL Primary Key</a:t>
            </a:r>
          </a:p>
          <a:p>
            <a:r>
              <a:rPr lang="en-US" dirty="0"/>
              <a:t>While creating a table using the CREATE TABLE statement, you can add the primary key constraint on a particular column of the table just by to specifying the name of the column along with the keyword "PRIMARY KEY".</a:t>
            </a:r>
          </a:p>
          <a:p>
            <a:endParaRPr lang="en-US" dirty="0"/>
          </a:p>
          <a:p>
            <a:r>
              <a:rPr lang="en-US" dirty="0"/>
              <a:t>Syntax</a:t>
            </a:r>
          </a:p>
          <a:p>
            <a:r>
              <a:rPr lang="en-US" dirty="0"/>
              <a:t>Following is the syntax to define a column of a table as a primary key −</a:t>
            </a:r>
          </a:p>
        </p:txBody>
      </p:sp>
    </p:spTree>
    <p:extLst>
      <p:ext uri="{BB962C8B-B14F-4D97-AF65-F5344CB8AC3E}">
        <p14:creationId xmlns:p14="http://schemas.microsoft.com/office/powerpoint/2010/main" val="200214175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0344B4D-D2ED-7796-4D97-E5B56381B24B}"/>
              </a:ext>
            </a:extLst>
          </p:cNvPr>
          <p:cNvSpPr txBox="1"/>
          <p:nvPr/>
        </p:nvSpPr>
        <p:spPr>
          <a:xfrm>
            <a:off x="488659" y="322300"/>
            <a:ext cx="6094602" cy="2308324"/>
          </a:xfrm>
          <a:prstGeom prst="rect">
            <a:avLst/>
          </a:prstGeom>
          <a:noFill/>
        </p:spPr>
        <p:txBody>
          <a:bodyPr wrap="square">
            <a:spAutoFit/>
          </a:bodyPr>
          <a:lstStyle/>
          <a:p>
            <a:r>
              <a:rPr lang="en-US" dirty="0"/>
              <a:t>CREATE TABLE </a:t>
            </a:r>
            <a:r>
              <a:rPr lang="en-US" dirty="0" err="1"/>
              <a:t>table_name</a:t>
            </a:r>
            <a:r>
              <a:rPr lang="en-US" dirty="0"/>
              <a:t>(</a:t>
            </a:r>
          </a:p>
          <a:p>
            <a:r>
              <a:rPr lang="en-US" dirty="0"/>
              <a:t>   column1 datatype,</a:t>
            </a:r>
          </a:p>
          <a:p>
            <a:r>
              <a:rPr lang="en-US" dirty="0"/>
              <a:t>   column2 datatype,</a:t>
            </a:r>
          </a:p>
          <a:p>
            <a:r>
              <a:rPr lang="en-US" dirty="0"/>
              <a:t>   column3 datatype,</a:t>
            </a:r>
          </a:p>
          <a:p>
            <a:r>
              <a:rPr lang="en-US" dirty="0"/>
              <a:t>   .....</a:t>
            </a:r>
          </a:p>
          <a:p>
            <a:r>
              <a:rPr lang="en-US" dirty="0"/>
              <a:t>   </a:t>
            </a:r>
            <a:r>
              <a:rPr lang="en-US" dirty="0" err="1"/>
              <a:t>columnN</a:t>
            </a:r>
            <a:r>
              <a:rPr lang="en-US" dirty="0"/>
              <a:t> datatype,</a:t>
            </a:r>
          </a:p>
          <a:p>
            <a:r>
              <a:rPr lang="en-US" dirty="0"/>
              <a:t>   PRIMARY KEY(</a:t>
            </a:r>
            <a:r>
              <a:rPr lang="en-US" dirty="0" err="1"/>
              <a:t>column_name</a:t>
            </a:r>
            <a:r>
              <a:rPr lang="en-US" dirty="0"/>
              <a:t>)</a:t>
            </a:r>
          </a:p>
          <a:p>
            <a:r>
              <a:rPr lang="en-US" dirty="0"/>
              <a:t>);</a:t>
            </a:r>
          </a:p>
        </p:txBody>
      </p:sp>
    </p:spTree>
    <p:extLst>
      <p:ext uri="{BB962C8B-B14F-4D97-AF65-F5344CB8AC3E}">
        <p14:creationId xmlns:p14="http://schemas.microsoft.com/office/powerpoint/2010/main" val="390450157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D0DD07B-8B93-8E49-6B8C-0A893EA756AC}"/>
              </a:ext>
            </a:extLst>
          </p:cNvPr>
          <p:cNvSpPr txBox="1"/>
          <p:nvPr/>
        </p:nvSpPr>
        <p:spPr>
          <a:xfrm>
            <a:off x="151002" y="287772"/>
            <a:ext cx="11652308" cy="3970318"/>
          </a:xfrm>
          <a:prstGeom prst="rect">
            <a:avLst/>
          </a:prstGeom>
          <a:noFill/>
        </p:spPr>
        <p:txBody>
          <a:bodyPr wrap="square">
            <a:spAutoFit/>
          </a:bodyPr>
          <a:lstStyle/>
          <a:p>
            <a:r>
              <a:rPr lang="en-US" dirty="0"/>
              <a:t>The SQL Foreign Key</a:t>
            </a:r>
          </a:p>
          <a:p>
            <a:endParaRPr lang="en-US" dirty="0"/>
          </a:p>
          <a:p>
            <a:r>
              <a:rPr lang="en-US" dirty="0"/>
              <a:t>In SQL, a Foreign Key is a column in one table that matches a Primary Key in another table, allowing the two tables to be connected together.</a:t>
            </a:r>
          </a:p>
          <a:p>
            <a:endParaRPr lang="en-US" dirty="0"/>
          </a:p>
          <a:p>
            <a:r>
              <a:rPr lang="en-US" dirty="0"/>
              <a:t>A foreign key also maintains referential integrity between two tables, making it impossible to drop the table containing the primary key (preserving the connection between the tables).</a:t>
            </a:r>
          </a:p>
          <a:p>
            <a:endParaRPr lang="en-US" dirty="0"/>
          </a:p>
          <a:p>
            <a:r>
              <a:rPr lang="en-US" dirty="0"/>
              <a:t>The foreign key can reference the unique fields of any table in the database. The table that has the primary key is known as the parent table and the key with the foreign key is known as the child table.</a:t>
            </a:r>
          </a:p>
          <a:p>
            <a:r>
              <a:rPr lang="en-US" dirty="0"/>
              <a:t>Let's consider an example scenario, assume we have two tables namely CUSTOMERS (ID, NAME, AGE, ADDRES, SALARY) and ORDERS (ID, DATE, CUSTOMER_ID, AMOUNT). Here the id of the customer is primary key (ID) in the CUSTOMERS table and foreign key in the ORDERS (CUSTOMER_ID) table observe the following diagram −</a:t>
            </a:r>
          </a:p>
          <a:p>
            <a:endParaRPr lang="en-US" dirty="0"/>
          </a:p>
        </p:txBody>
      </p:sp>
      <p:pic>
        <p:nvPicPr>
          <p:cNvPr id="4" name="Picture 3">
            <a:extLst>
              <a:ext uri="{FF2B5EF4-FFF2-40B4-BE49-F238E27FC236}">
                <a16:creationId xmlns:a16="http://schemas.microsoft.com/office/drawing/2014/main" id="{9281C3D2-7416-8ABF-6F14-90A8B431D51F}"/>
              </a:ext>
            </a:extLst>
          </p:cNvPr>
          <p:cNvPicPr>
            <a:picLocks noChangeAspect="1"/>
          </p:cNvPicPr>
          <p:nvPr/>
        </p:nvPicPr>
        <p:blipFill>
          <a:blip r:embed="rId2"/>
          <a:stretch>
            <a:fillRect/>
          </a:stretch>
        </p:blipFill>
        <p:spPr>
          <a:xfrm>
            <a:off x="2638643" y="3976382"/>
            <a:ext cx="6677025" cy="2239860"/>
          </a:xfrm>
          <a:prstGeom prst="rect">
            <a:avLst/>
          </a:prstGeom>
        </p:spPr>
      </p:pic>
    </p:spTree>
    <p:extLst>
      <p:ext uri="{BB962C8B-B14F-4D97-AF65-F5344CB8AC3E}">
        <p14:creationId xmlns:p14="http://schemas.microsoft.com/office/powerpoint/2010/main" val="43979789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FF8CD2-002D-885B-681C-41E02FE02157}"/>
              </a:ext>
            </a:extLst>
          </p:cNvPr>
          <p:cNvSpPr txBox="1"/>
          <p:nvPr/>
        </p:nvSpPr>
        <p:spPr>
          <a:xfrm>
            <a:off x="0" y="199443"/>
            <a:ext cx="12029813" cy="5078313"/>
          </a:xfrm>
          <a:prstGeom prst="rect">
            <a:avLst/>
          </a:prstGeom>
          <a:noFill/>
        </p:spPr>
        <p:txBody>
          <a:bodyPr wrap="square">
            <a:spAutoFit/>
          </a:bodyPr>
          <a:lstStyle/>
          <a:p>
            <a:r>
              <a:rPr lang="en-US" dirty="0"/>
              <a:t>Features of Foreign Key</a:t>
            </a:r>
          </a:p>
          <a:p>
            <a:r>
              <a:rPr lang="en-US" dirty="0"/>
              <a:t>Following is the of features of Foreign Key −</a:t>
            </a:r>
          </a:p>
          <a:p>
            <a:endParaRPr lang="en-US" dirty="0"/>
          </a:p>
          <a:p>
            <a:r>
              <a:rPr lang="en-US" dirty="0"/>
              <a:t>A Foreign Key is used to reduce the redundancy (or duplicates) in the table.</a:t>
            </a:r>
          </a:p>
          <a:p>
            <a:endParaRPr lang="en-US" dirty="0"/>
          </a:p>
          <a:p>
            <a:r>
              <a:rPr lang="en-US" dirty="0"/>
              <a:t>It helps to normalize (or organize the data in a database) the data in multiple tables.</a:t>
            </a:r>
          </a:p>
          <a:p>
            <a:endParaRPr lang="en-US" dirty="0"/>
          </a:p>
          <a:p>
            <a:r>
              <a:rPr lang="en-US" dirty="0"/>
              <a:t>Syntax</a:t>
            </a:r>
          </a:p>
          <a:p>
            <a:r>
              <a:rPr lang="en-US" dirty="0"/>
              <a:t>Following is the basic syntax to add Foreign Key constraints on a column of a table in MySQL database −</a:t>
            </a:r>
          </a:p>
          <a:p>
            <a:endParaRPr lang="en-US" dirty="0"/>
          </a:p>
          <a:p>
            <a:r>
              <a:rPr lang="en-US" dirty="0"/>
              <a:t>CREATE TABLE </a:t>
            </a:r>
            <a:r>
              <a:rPr lang="en-US" dirty="0" err="1"/>
              <a:t>table_name</a:t>
            </a:r>
            <a:r>
              <a:rPr lang="en-US" dirty="0"/>
              <a:t> (</a:t>
            </a:r>
          </a:p>
          <a:p>
            <a:r>
              <a:rPr lang="en-US" dirty="0"/>
              <a:t>    column1 datatype,</a:t>
            </a:r>
          </a:p>
          <a:p>
            <a:r>
              <a:rPr lang="en-US" dirty="0"/>
              <a:t>    column2 datatype,</a:t>
            </a:r>
          </a:p>
          <a:p>
            <a:r>
              <a:rPr lang="en-US" dirty="0"/>
              <a:t>    ...</a:t>
            </a:r>
          </a:p>
          <a:p>
            <a:r>
              <a:rPr lang="en-US" dirty="0"/>
              <a:t>    CONSTRAINT </a:t>
            </a:r>
            <a:r>
              <a:rPr lang="en-US" dirty="0" err="1"/>
              <a:t>fk_name</a:t>
            </a:r>
            <a:r>
              <a:rPr lang="en-US" dirty="0"/>
              <a:t> </a:t>
            </a:r>
          </a:p>
          <a:p>
            <a:r>
              <a:rPr lang="en-US" dirty="0"/>
              <a:t>	FOREIGN KEY (</a:t>
            </a:r>
            <a:r>
              <a:rPr lang="en-US" dirty="0" err="1"/>
              <a:t>column_name</a:t>
            </a:r>
            <a:r>
              <a:rPr lang="en-US" dirty="0"/>
              <a:t>) </a:t>
            </a:r>
          </a:p>
          <a:p>
            <a:r>
              <a:rPr lang="en-US" dirty="0"/>
              <a:t>	REFERENCES </a:t>
            </a:r>
            <a:r>
              <a:rPr lang="en-US" dirty="0" err="1"/>
              <a:t>referenced_table</a:t>
            </a:r>
            <a:r>
              <a:rPr lang="en-US" dirty="0"/>
              <a:t>(</a:t>
            </a:r>
            <a:r>
              <a:rPr lang="en-US" dirty="0" err="1"/>
              <a:t>referenced_column</a:t>
            </a:r>
            <a:r>
              <a:rPr lang="en-US" dirty="0"/>
              <a:t>)</a:t>
            </a:r>
          </a:p>
          <a:p>
            <a:r>
              <a:rPr lang="en-US" dirty="0"/>
              <a:t>);</a:t>
            </a:r>
          </a:p>
        </p:txBody>
      </p:sp>
    </p:spTree>
    <p:extLst>
      <p:ext uri="{BB962C8B-B14F-4D97-AF65-F5344CB8AC3E}">
        <p14:creationId xmlns:p14="http://schemas.microsoft.com/office/powerpoint/2010/main" val="103637322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4548CB5-DCD8-68F1-0E88-5B14FDA24991}"/>
              </a:ext>
            </a:extLst>
          </p:cNvPr>
          <p:cNvSpPr txBox="1"/>
          <p:nvPr/>
        </p:nvSpPr>
        <p:spPr>
          <a:xfrm>
            <a:off x="354435" y="271804"/>
            <a:ext cx="10979092" cy="2862322"/>
          </a:xfrm>
          <a:prstGeom prst="rect">
            <a:avLst/>
          </a:prstGeom>
          <a:noFill/>
        </p:spPr>
        <p:txBody>
          <a:bodyPr wrap="square">
            <a:spAutoFit/>
          </a:bodyPr>
          <a:lstStyle/>
          <a:p>
            <a:r>
              <a:rPr lang="en-US" dirty="0"/>
              <a:t>CREATE TABLE ORDERS (</a:t>
            </a:r>
          </a:p>
          <a:p>
            <a:r>
              <a:rPr lang="en-US" dirty="0"/>
              <a:t>   ID INT NOT NULL,</a:t>
            </a:r>
          </a:p>
          <a:p>
            <a:r>
              <a:rPr lang="en-US" dirty="0"/>
              <a:t>   DATE DATETIME, </a:t>
            </a:r>
          </a:p>
          <a:p>
            <a:r>
              <a:rPr lang="en-US" dirty="0"/>
              <a:t>   CUSTOMER_ID INT,</a:t>
            </a:r>
          </a:p>
          <a:p>
            <a:r>
              <a:rPr lang="en-US" dirty="0"/>
              <a:t>   CONSTRAINT FK_CUSTOMER </a:t>
            </a:r>
          </a:p>
          <a:p>
            <a:r>
              <a:rPr lang="en-US" dirty="0"/>
              <a:t>   FOREIGN KEY(CUSTOMER_ID) </a:t>
            </a:r>
          </a:p>
          <a:p>
            <a:r>
              <a:rPr lang="en-US" dirty="0"/>
              <a:t>   REFERENCES CUSTOMERS(ID),</a:t>
            </a:r>
          </a:p>
          <a:p>
            <a:r>
              <a:rPr lang="en-US" dirty="0"/>
              <a:t>   AMOUNT DECIMAL,</a:t>
            </a:r>
          </a:p>
          <a:p>
            <a:r>
              <a:rPr lang="en-US" dirty="0"/>
              <a:t>   PRIMARY KEY (ID)</a:t>
            </a:r>
          </a:p>
          <a:p>
            <a:r>
              <a:rPr lang="en-US" dirty="0"/>
              <a:t>);</a:t>
            </a:r>
          </a:p>
        </p:txBody>
      </p:sp>
    </p:spTree>
    <p:extLst>
      <p:ext uri="{BB962C8B-B14F-4D97-AF65-F5344CB8AC3E}">
        <p14:creationId xmlns:p14="http://schemas.microsoft.com/office/powerpoint/2010/main" val="3865830934"/>
      </p:ext>
    </p:extLst>
  </p:cSld>
  <p:clrMapOvr>
    <a:masterClrMapping/>
  </p:clrMapOvr>
</p:sld>
</file>

<file path=ppt/theme/theme1.xml><?xml version="1.0" encoding="utf-8"?>
<a:theme xmlns:a="http://schemas.openxmlformats.org/drawingml/2006/main" name="Custom">
  <a:themeElements>
    <a:clrScheme name="Custom 34">
      <a:dk1>
        <a:sysClr val="windowText" lastClr="000000"/>
      </a:dk1>
      <a:lt1>
        <a:sysClr val="window" lastClr="FFFFFF"/>
      </a:lt1>
      <a:dk2>
        <a:srgbClr val="39302A"/>
      </a:dk2>
      <a:lt2>
        <a:srgbClr val="E5DEDB"/>
      </a:lt2>
      <a:accent1>
        <a:srgbClr val="EC7016"/>
      </a:accent1>
      <a:accent2>
        <a:srgbClr val="F8931D"/>
      </a:accent2>
      <a:accent3>
        <a:srgbClr val="CE8D3E"/>
      </a:accent3>
      <a:accent4>
        <a:srgbClr val="E64823"/>
      </a:accent4>
      <a:accent5>
        <a:srgbClr val="FFCA08"/>
      </a:accent5>
      <a:accent6>
        <a:srgbClr val="9C6A6A"/>
      </a:accent6>
      <a:hlink>
        <a:srgbClr val="2998E3"/>
      </a:hlink>
      <a:folHlink>
        <a:srgbClr val="7F723D"/>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F5B7AB07-F859-4656-A1C1-DAFCFA0ACA4B}" vid="{A6E2497D-935A-4CFD-B9FD-6DCB15FA68BF}"/>
    </a:ext>
  </a:extLst>
</a:theme>
</file>

<file path=ppt/theme/themeOverride1.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_ip_UnifiedCompliancePolicyUIAction xmlns="http://schemas.microsoft.com/sharepoint/v3" xsi:nil="true"/>
    <Image xmlns="71af3243-3dd4-4a8d-8c0d-dd76da1f02a5">
      <Url xsi:nil="true"/>
      <Description xsi:nil="true"/>
    </Image>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2957789-34B8-480C-AF9B-3EB54B9E5C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03EEFF0-FB57-4CB4-8BFC-DF397689E2ED}">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AA3F7EDC-E5B4-4BBC-9D2A-CBE6D46C37A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{A39C4AE8-6CE5-42E7-B5D7-1462BCA4191D}tf22712842_win32</Template>
  <TotalTime>13111</TotalTime>
  <Words>8853</Words>
  <Application>Microsoft Office PowerPoint</Application>
  <PresentationFormat>Widescreen</PresentationFormat>
  <Paragraphs>769</Paragraphs>
  <Slides>69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69</vt:i4>
      </vt:variant>
    </vt:vector>
  </HeadingPairs>
  <TitlesOfParts>
    <vt:vector size="74" baseType="lpstr">
      <vt:lpstr>Bookman Old Style</vt:lpstr>
      <vt:lpstr>Calibri</vt:lpstr>
      <vt:lpstr>Courier New</vt:lpstr>
      <vt:lpstr>Franklin Gothic Book</vt:lpstr>
      <vt:lpstr>Custom</vt:lpstr>
      <vt:lpstr>SQL Notes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Lorem Ipsum</dc:title>
  <dc:creator>shedrack joshua</dc:creator>
  <cp:lastModifiedBy>Joshua Musembi</cp:lastModifiedBy>
  <cp:revision>7</cp:revision>
  <dcterms:created xsi:type="dcterms:W3CDTF">2023-11-27T18:35:42Z</dcterms:created>
  <dcterms:modified xsi:type="dcterms:W3CDTF">2024-12-17T18:11:13Z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